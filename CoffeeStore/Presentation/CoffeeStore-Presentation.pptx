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a73a1f12-f9a0-e298-efd7-ebd9e2ceff29}">
          <p14:sldIdLst>
            <p14:sldId id="256"/>
          </p14:sldIdLst>
        </p14:section>
        <p14:section name="المعمارية" id="{dc90fa46-59ca-2403-14c0-d1796f3d2748}">
          <p14:sldIdLst>
            <p14:sldId id="257"/>
            <p14:sldId id="258"/>
            <p14:sldId id="259"/>
            <p14:sldId id="260"/>
          </p14:sldIdLst>
        </p14:section>
        <p14:section name="النظام" id="{085aad44-cc09-e40b-23d6-150000e1c6a0}">
          <p14:sldIdLst>
            <p14:sldId id="261"/>
            <p14:sldId id="262"/>
          </p14:sldIdLst>
        </p14:section>
        <p14:section name="الجودة والتشغيل" id="{415113bd-0345-8f07-63ce-e3f73a2a23bb}">
          <p14:sldIdLst>
            <p14:sldId id="263"/>
          </p14:sldIdLst>
        </p14:section>
        <p14:section name="الخاتمة" id="{cd6cb9d2-6fee-9499-33bc-e1185b54c0f1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افتتاحية: المشروع Web API لمتجر قهوة على ASP.NET Core و .NET 10 بمعمارية نظيفة. فيه كتالوج منتجات وسلة على Redis ومصادقة JWT ومنطق طلبات، وعليه أكتر من 130 اختبار.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مشكلة بنواجهها في المشاريع الكبيرة ليها حل محدد في المعمارية. هنشوف كل حل في الكود الفعلي في الشرايح الجاية.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الاعتماديات بتتجه للداخل: Api ثم Infrastructure ثم Application ثم Domain. الـ Domain مفيهوش project references لأي طبقة تانية. وفيه كمان مشروع اختبارات منفصل.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 أنماط موجودة فعلًا في الكود. الـ Specification فيها SpecificationEvaluator بيبني الاستعلام، وبيحسب العدد بدون ما الـ paging يقص الإجمالي. والـ Soft Delete بيتطبق بـ HasQueryFilter على Product وOrder وCustomer وغيرهم.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عملية بترجع Result، والـ Controller بيحوله لرد HTTP في مكان واحد (ToProblem في ApiControllerBase) بصيغة ProblemDetails. ده بيخلي الـ Services من غير try/catch، وفيه ResultTests بتغطي السلوك 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ده المنطق الموجود في OrderServices.CreateOrderAsync. لو السلة فاضية أو بيانات الطلب ناقصة، Order.Create بترجع أخطاء Validation. ملاحظة: الـ endpoint نفسه (OrderController) لسه في مرحلة التجهيز، والمنطق والحفظ متغطيين باختبارات.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كاش الـ HTTP لقائمة المنتجات 60 ثانية افتراضيًا عن طريق RedisCacheAttribute. السلة بتتخزن في Redis بمفتاح basket وبتنتهي بعد 7 أيام. الأدوار بتتحط في الـ JWT كـ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الأرقام من الريبو مباشرة: 138 دالة اختبار، قاعدتين (CoffeeStoreDb وCoffeeStoreDb.Identity)، وdocker-compose فيه api وsqlserver وredis، وworkflow بيعمل restore وbuild وtest مع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الخلاصة: الأساس جاهز: كتالوج وسلة ومصادقة ومنطق طلبات بتغطية اختبارات. المتبقي: إكمال OrderController، وربط الدفع (الـ entity والـ enum موجودين: Paymob وFawry وكاش وكارت)، وتتبع الحالة (OrderStatus موجود)، والإشعارات.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0" y="1325880"/>
            <a:ext cx="74340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CoffeeStore  |  Clean Architecture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card"/>
          <p:cNvSpPr/>
          <p:nvPr/>
        </p:nvSpPr>
        <p:spPr>
          <a:xfrm>
            <a:off x="640080" y="1097280"/>
            <a:ext cx="3017520" cy="45720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" name="Cover circle"/>
          <p:cNvSpPr/>
          <p:nvPr/>
        </p:nvSpPr>
        <p:spPr>
          <a:xfrm>
            <a:off x="1234440" y="160020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over icon" descr="Coff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21031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4000" b="1" dirty="0">
                <a:solidFill>
                  <a:schemeClr val="tx1"/>
                </a:solidFill>
              </a:rPr>
              <a:t>.NET 10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434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ASP.NET Core  |  EF Core  |  Redis</a:t>
            </a:r>
            <a:endParaRPr lang="en-US" sz="13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4114800" y="1325880"/>
            <a:ext cx="7434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altLang="en-US" sz="4400" b="1" dirty="0">
                <a:solidFill>
                  <a:schemeClr val="tx1"/>
                </a:solidFill>
              </a:rPr>
              <a:t>CoffeeStore E-Commerce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2286000"/>
            <a:ext cx="7434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800" b="1" dirty="0">
                <a:solidFill>
                  <a:schemeClr val="accent1"/>
                </a:solidFill>
              </a:rPr>
              <a:t>نظام إدارة متجر قهوة إلكتروني</a:t>
            </a:r>
            <a:endParaRPr lang="ar-EG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292608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2"/>
                </a:solidFill>
              </a:rPr>
              <a:t>واجهة API للكتالوج والسلة والطلبات والمصادقة، على ASP.NET Core</a:t>
            </a:r>
            <a:endParaRPr lang="ar-EG" sz="1800" dirty="0"/>
          </a:p>
        </p:txBody>
      </p:sp>
      <p:sp>
        <p:nvSpPr>
          <p:cNvPr id="10" name="Pill معمارية نظيفة"/>
          <p:cNvSpPr/>
          <p:nvPr/>
        </p:nvSpPr>
        <p:spPr>
          <a:xfrm>
            <a:off x="9537192" y="374904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537192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4"/>
                </a:solidFill>
              </a:rPr>
              <a:t>معمارية نظيفة</a:t>
            </a:r>
            <a:endParaRPr lang="ar-EG" sz="1500" dirty="0"/>
          </a:p>
        </p:txBody>
      </p:sp>
      <p:sp>
        <p:nvSpPr>
          <p:cNvPr id="12" name="Pill أداء عالي"/>
          <p:cNvSpPr/>
          <p:nvPr/>
        </p:nvSpPr>
        <p:spPr>
          <a:xfrm>
            <a:off x="7708392" y="3749040"/>
            <a:ext cx="1645920" cy="5029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08392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4"/>
                </a:solidFill>
              </a:rPr>
              <a:t>أداء عالي</a:t>
            </a:r>
            <a:endParaRPr lang="ar-EG" sz="1500" dirty="0"/>
          </a:p>
        </p:txBody>
      </p:sp>
      <p:sp>
        <p:nvSpPr>
          <p:cNvPr id="14" name="Pill قابل للتوسع"/>
          <p:cNvSpPr/>
          <p:nvPr/>
        </p:nvSpPr>
        <p:spPr>
          <a:xfrm>
            <a:off x="5513832" y="3749040"/>
            <a:ext cx="2011680" cy="5029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513832" y="37490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500" b="1" dirty="0">
                <a:solidFill>
                  <a:schemeClr val="accent4"/>
                </a:solidFill>
              </a:rPr>
              <a:t>قابل للتوسع</a:t>
            </a:r>
            <a:endParaRPr lang="ar-EG" sz="1500" dirty="0"/>
          </a:p>
        </p:txBody>
      </p:sp>
      <p:sp>
        <p:nvSpPr>
          <p:cNvPr id="16" name="Pill Clean Architecture"/>
          <p:cNvSpPr/>
          <p:nvPr/>
        </p:nvSpPr>
        <p:spPr>
          <a:xfrm>
            <a:off x="9354312" y="4617720"/>
            <a:ext cx="2194560" cy="4114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54312" y="4617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Clean Architecture</a:t>
            </a:r>
            <a:endParaRPr lang="en-US" sz="1300" dirty="0"/>
          </a:p>
        </p:txBody>
      </p:sp>
      <p:sp>
        <p:nvSpPr>
          <p:cNvPr id="18" name="Pill Result Pattern"/>
          <p:cNvSpPr/>
          <p:nvPr/>
        </p:nvSpPr>
        <p:spPr>
          <a:xfrm>
            <a:off x="7342632" y="4617720"/>
            <a:ext cx="1828800" cy="4114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42632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Result Pattern</a:t>
            </a:r>
            <a:endParaRPr lang="en-US" sz="1300" dirty="0"/>
          </a:p>
        </p:txBody>
      </p:sp>
      <p:sp>
        <p:nvSpPr>
          <p:cNvPr id="20" name="Pill .NET 10"/>
          <p:cNvSpPr/>
          <p:nvPr/>
        </p:nvSpPr>
        <p:spPr>
          <a:xfrm>
            <a:off x="5971032" y="4617720"/>
            <a:ext cx="1188720" cy="4114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971032" y="4617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.NET 10</a:t>
            </a:r>
            <a:endParaRPr lang="en-US" sz="1300" dirty="0"/>
          </a:p>
        </p:txBody>
      </p:sp>
      <p:sp>
        <p:nvSpPr>
          <p:cNvPr id="22" name="Pill Specification Pattern"/>
          <p:cNvSpPr/>
          <p:nvPr/>
        </p:nvSpPr>
        <p:spPr>
          <a:xfrm>
            <a:off x="9171432" y="5166360"/>
            <a:ext cx="2377440" cy="4114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71432" y="5166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Specification Pattern</a:t>
            </a:r>
            <a:endParaRPr lang="en-US" sz="1300" dirty="0"/>
          </a:p>
        </p:txBody>
      </p:sp>
      <p:sp>
        <p:nvSpPr>
          <p:cNvPr id="24" name="Pill Unit of Work"/>
          <p:cNvSpPr/>
          <p:nvPr/>
        </p:nvSpPr>
        <p:spPr>
          <a:xfrm>
            <a:off x="7251192" y="5166360"/>
            <a:ext cx="1737360" cy="41148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51192" y="5166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2"/>
                </a:solidFill>
              </a:rPr>
              <a:t>Unit of Work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0" y="5943600"/>
            <a:ext cx="7434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chemeClr val="tx2"/>
                </a:solidFill>
              </a:rPr>
              <a:t>Mohamed Nowar  |  .NET Developer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ليه المعمارية دي؟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المشاكل اللي بنحلها</a:t>
            </a:r>
            <a:endParaRPr lang="ar-EG" sz="2000" dirty="0"/>
          </a:p>
        </p:txBody>
      </p:sp>
      <p:sp>
        <p:nvSpPr>
          <p:cNvPr id="4" name="Problem 1"/>
          <p:cNvSpPr/>
          <p:nvPr/>
        </p:nvSpPr>
        <p:spPr>
          <a:xfrm>
            <a:off x="6702552" y="1783080"/>
            <a:ext cx="48463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76872" y="178308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الكود متشابك وصعب التعديل</a:t>
            </a:r>
            <a:endParaRPr lang="ar-EG" sz="1800" dirty="0"/>
          </a:p>
        </p:txBody>
      </p:sp>
      <p:pic>
        <p:nvPicPr>
          <p:cNvPr id="6" name="Arrow 1" descr="يتحل ب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344" y="2002536"/>
            <a:ext cx="274320" cy="274320"/>
          </a:xfrm>
          <a:prstGeom prst="rect">
            <a:avLst/>
          </a:prstGeom>
        </p:spPr>
      </p:pic>
      <p:sp>
        <p:nvSpPr>
          <p:cNvPr id="7" name="Solution 1"/>
          <p:cNvSpPr/>
          <p:nvPr/>
        </p:nvSpPr>
        <p:spPr>
          <a:xfrm>
            <a:off x="640080" y="1783080"/>
            <a:ext cx="5303520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783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4"/>
                </a:solidFill>
              </a:rPr>
              <a:t>Clean Architecture</a:t>
            </a:r>
            <a:endParaRPr lang="en-US" sz="1600" dirty="0"/>
          </a:p>
        </p:txBody>
      </p:sp>
      <p:sp>
        <p:nvSpPr>
          <p:cNvPr id="9" name="Problem 2"/>
          <p:cNvSpPr/>
          <p:nvPr/>
        </p:nvSpPr>
        <p:spPr>
          <a:xfrm>
            <a:off x="6702552" y="2651760"/>
            <a:ext cx="48463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76872" y="26517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صعوبة اختبار الكود</a:t>
            </a:r>
            <a:endParaRPr lang="ar-EG" sz="1800" dirty="0"/>
          </a:p>
        </p:txBody>
      </p:sp>
      <p:pic>
        <p:nvPicPr>
          <p:cNvPr id="11" name="Arrow 2" descr="يتحل بـ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2871216"/>
            <a:ext cx="274320" cy="274320"/>
          </a:xfrm>
          <a:prstGeom prst="rect">
            <a:avLst/>
          </a:prstGeom>
        </p:spPr>
      </p:pic>
      <p:sp>
        <p:nvSpPr>
          <p:cNvPr id="12" name="Solution 2"/>
          <p:cNvSpPr/>
          <p:nvPr/>
        </p:nvSpPr>
        <p:spPr>
          <a:xfrm>
            <a:off x="640080" y="2651760"/>
            <a:ext cx="5303520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14400" y="26517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4"/>
                </a:solidFill>
              </a:rPr>
              <a:t>Dependency Injection + Repository Pattern</a:t>
            </a:r>
            <a:endParaRPr lang="en-US" sz="1600" dirty="0"/>
          </a:p>
        </p:txBody>
      </p:sp>
      <p:sp>
        <p:nvSpPr>
          <p:cNvPr id="14" name="Problem 3"/>
          <p:cNvSpPr/>
          <p:nvPr/>
        </p:nvSpPr>
        <p:spPr>
          <a:xfrm>
            <a:off x="6702552" y="3520440"/>
            <a:ext cx="48463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76872" y="352044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استعلامات SQL مكررة</a:t>
            </a:r>
            <a:endParaRPr lang="ar-EG" sz="1800" dirty="0"/>
          </a:p>
        </p:txBody>
      </p:sp>
      <p:pic>
        <p:nvPicPr>
          <p:cNvPr id="16" name="Arrow 3" descr="يتحل بـ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3739896"/>
            <a:ext cx="274320" cy="274320"/>
          </a:xfrm>
          <a:prstGeom prst="rect">
            <a:avLst/>
          </a:prstGeom>
        </p:spPr>
      </p:pic>
      <p:sp>
        <p:nvSpPr>
          <p:cNvPr id="17" name="Solution 3"/>
          <p:cNvSpPr/>
          <p:nvPr/>
        </p:nvSpPr>
        <p:spPr>
          <a:xfrm>
            <a:off x="640080" y="3520440"/>
            <a:ext cx="5303520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914400" y="352044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4"/>
                </a:solidFill>
              </a:rPr>
              <a:t>Specification Pattern</a:t>
            </a:r>
            <a:endParaRPr lang="en-US" sz="1600" dirty="0"/>
          </a:p>
        </p:txBody>
      </p:sp>
      <p:sp>
        <p:nvSpPr>
          <p:cNvPr id="19" name="Problem 4"/>
          <p:cNvSpPr/>
          <p:nvPr/>
        </p:nvSpPr>
        <p:spPr>
          <a:xfrm>
            <a:off x="6702552" y="4389120"/>
            <a:ext cx="48463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976872" y="438912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مشاكل في المعاملات المعقدة</a:t>
            </a:r>
            <a:endParaRPr lang="ar-EG" sz="1800" dirty="0"/>
          </a:p>
        </p:txBody>
      </p:sp>
      <p:pic>
        <p:nvPicPr>
          <p:cNvPr id="21" name="Arrow 4" descr="يتحل بـ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4608576"/>
            <a:ext cx="274320" cy="274320"/>
          </a:xfrm>
          <a:prstGeom prst="rect">
            <a:avLst/>
          </a:prstGeom>
        </p:spPr>
      </p:pic>
      <p:sp>
        <p:nvSpPr>
          <p:cNvPr id="22" name="Solution 4"/>
          <p:cNvSpPr/>
          <p:nvPr/>
        </p:nvSpPr>
        <p:spPr>
          <a:xfrm>
            <a:off x="640080" y="4389120"/>
            <a:ext cx="5303520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914400" y="43891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4"/>
                </a:solidFill>
              </a:rPr>
              <a:t>Unit of Work Pattern</a:t>
            </a:r>
            <a:endParaRPr lang="en-US" sz="1600" dirty="0"/>
          </a:p>
        </p:txBody>
      </p:sp>
      <p:sp>
        <p:nvSpPr>
          <p:cNvPr id="24" name="Problem 5"/>
          <p:cNvSpPr/>
          <p:nvPr/>
        </p:nvSpPr>
        <p:spPr>
          <a:xfrm>
            <a:off x="6702552" y="5257800"/>
            <a:ext cx="484632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976872" y="52578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معالجة أخطاء مبعثرة</a:t>
            </a:r>
            <a:endParaRPr lang="ar-EG" sz="1800" dirty="0"/>
          </a:p>
        </p:txBody>
      </p:sp>
      <p:pic>
        <p:nvPicPr>
          <p:cNvPr id="26" name="Arrow 5" descr="يتحل بـ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5477256"/>
            <a:ext cx="274320" cy="274320"/>
          </a:xfrm>
          <a:prstGeom prst="rect">
            <a:avLst/>
          </a:prstGeom>
        </p:spPr>
      </p:pic>
      <p:sp>
        <p:nvSpPr>
          <p:cNvPr id="27" name="Solution 5"/>
          <p:cNvSpPr/>
          <p:nvPr/>
        </p:nvSpPr>
        <p:spPr>
          <a:xfrm>
            <a:off x="640080" y="5257800"/>
            <a:ext cx="5303520" cy="713232"/>
          </a:xfrm>
          <a:prstGeom prst="roundRect">
            <a:avLst>
              <a:gd name="adj" fmla="val 15385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914400" y="525780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4"/>
                </a:solidFill>
              </a:rPr>
              <a:t>Result Pattern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هيكل المشروع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4 طبقات نظيفة ومنفصلة</a:t>
            </a:r>
            <a:endParaRPr lang="ar-EG" sz="2000" dirty="0"/>
          </a:p>
        </p:txBody>
      </p:sp>
      <p:sp>
        <p:nvSpPr>
          <p:cNvPr id="4" name="Layer ECommerce.Api"/>
          <p:cNvSpPr/>
          <p:nvPr/>
        </p:nvSpPr>
        <p:spPr>
          <a:xfrm>
            <a:off x="640080" y="17830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ircle ECommerce.Api"/>
          <p:cNvSpPr/>
          <p:nvPr/>
        </p:nvSpPr>
        <p:spPr>
          <a:xfrm>
            <a:off x="10863072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ECommerce.Api" descr="ECommerce.A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860" y="205602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09360" y="1783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ECommerce.Api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1783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Controllers + Middleware + Filters + Swagger</a:t>
            </a:r>
            <a:endParaRPr lang="en-US" sz="1600" dirty="0"/>
          </a:p>
        </p:txBody>
      </p:sp>
      <p:sp>
        <p:nvSpPr>
          <p:cNvPr id="9" name="Layer ECommerce.Infrastructure"/>
          <p:cNvSpPr/>
          <p:nvPr/>
        </p:nvSpPr>
        <p:spPr>
          <a:xfrm>
            <a:off x="640080" y="26974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ircle ECommerce.Infrastructure"/>
          <p:cNvSpPr/>
          <p:nvPr/>
        </p:nvSpPr>
        <p:spPr>
          <a:xfrm>
            <a:off x="10863072" y="2834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ECommerce.Infrastructure" descr="ECommerce.Infrastruc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8860" y="297042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09360" y="2697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ECommerce.Infrastructure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14400" y="26974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EF Core + Redis + Identity + Repositories</a:t>
            </a:r>
            <a:endParaRPr lang="en-US" sz="1600" dirty="0"/>
          </a:p>
        </p:txBody>
      </p:sp>
      <p:sp>
        <p:nvSpPr>
          <p:cNvPr id="14" name="Layer ECommerce.Application"/>
          <p:cNvSpPr/>
          <p:nvPr/>
        </p:nvSpPr>
        <p:spPr>
          <a:xfrm>
            <a:off x="640080" y="36118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ircle ECommerce.Application"/>
          <p:cNvSpPr/>
          <p:nvPr/>
        </p:nvSpPr>
        <p:spPr>
          <a:xfrm>
            <a:off x="10863072" y="3749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ECommerce.Application" descr="ECommerce.Applic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8860" y="388482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36118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ECommerce.Application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36118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Services + DTOs + AutoMapper + FluentValidation</a:t>
            </a:r>
            <a:endParaRPr lang="en-US" sz="1600" dirty="0"/>
          </a:p>
        </p:txBody>
      </p:sp>
      <p:sp>
        <p:nvSpPr>
          <p:cNvPr id="19" name="Layer ECommerce.Domain"/>
          <p:cNvSpPr/>
          <p:nvPr/>
        </p:nvSpPr>
        <p:spPr>
          <a:xfrm>
            <a:off x="640080" y="4526280"/>
            <a:ext cx="10908792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ircle ECommerce.Domain"/>
          <p:cNvSpPr/>
          <p:nvPr/>
        </p:nvSpPr>
        <p:spPr>
          <a:xfrm>
            <a:off x="10863072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ECommerce.Domain" descr="ECommerce.Domai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8860" y="479922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09360" y="45262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ECommerce.Domain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14400" y="45262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Entities + Contracts + Specification + Result</a:t>
            </a:r>
            <a:endParaRPr lang="en-US" sz="1600" dirty="0"/>
          </a:p>
        </p:txBody>
      </p:sp>
      <p:sp>
        <p:nvSpPr>
          <p:cNvPr id="24" name="Note"/>
          <p:cNvSpPr/>
          <p:nvPr/>
        </p:nvSpPr>
        <p:spPr>
          <a:xfrm>
            <a:off x="640080" y="5486400"/>
            <a:ext cx="10908792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14400" y="548640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accent4"/>
                </a:solidFill>
              </a:rPr>
              <a:t>كل طبقة بتعتمد على اللي تحتها بس - والـ Domain في المركز ومبيعتمدش على أي طبقة</a:t>
            </a:r>
            <a:endParaRPr lang="ar-EG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altLang="en-US" sz="3600" b="1" dirty="0">
                <a:solidFill>
                  <a:schemeClr val="tx1"/>
                </a:solidFill>
              </a:rPr>
              <a:t>Design Patterns المستخدمة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اختيارات مدروسة لكل نمط</a:t>
            </a:r>
            <a:endParaRPr lang="ar-EG" sz="2000" dirty="0"/>
          </a:p>
        </p:txBody>
      </p:sp>
      <p:sp>
        <p:nvSpPr>
          <p:cNvPr id="4" name="Pattern Repository Pattern"/>
          <p:cNvSpPr/>
          <p:nvPr/>
        </p:nvSpPr>
        <p:spPr>
          <a:xfrm>
            <a:off x="8095488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ircle Repository Pattern"/>
          <p:cNvSpPr/>
          <p:nvPr/>
        </p:nvSpPr>
        <p:spPr>
          <a:xfrm>
            <a:off x="10771632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Repository Pattern" descr="Repository Patter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7420" y="2101748"/>
            <a:ext cx="231343" cy="2313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369808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Repository Pattern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369808" y="3017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فصل طبقة البيانات عن البزنس لوجيك</a:t>
            </a:r>
            <a:endParaRPr lang="ar-EG" sz="1500" dirty="0"/>
          </a:p>
        </p:txBody>
      </p:sp>
      <p:sp>
        <p:nvSpPr>
          <p:cNvPr id="9" name="Pattern Unit of Work"/>
          <p:cNvSpPr/>
          <p:nvPr/>
        </p:nvSpPr>
        <p:spPr>
          <a:xfrm>
            <a:off x="4367784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ircle Unit of Work"/>
          <p:cNvSpPr/>
          <p:nvPr/>
        </p:nvSpPr>
        <p:spPr>
          <a:xfrm>
            <a:off x="7043928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Unit of Work" descr="Unit of 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9716" y="2101748"/>
            <a:ext cx="231343" cy="23134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42104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Unit of Work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42104" y="3017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SaveChanges واحدة بتحفظ كل التغييرات مع بعض</a:t>
            </a:r>
            <a:endParaRPr lang="ar-EG" sz="1500" dirty="0"/>
          </a:p>
        </p:txBody>
      </p:sp>
      <p:sp>
        <p:nvSpPr>
          <p:cNvPr id="14" name="Pattern Specification Pattern"/>
          <p:cNvSpPr/>
          <p:nvPr/>
        </p:nvSpPr>
        <p:spPr>
          <a:xfrm>
            <a:off x="640080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ircle Specification Pattern"/>
          <p:cNvSpPr/>
          <p:nvPr/>
        </p:nvSpPr>
        <p:spPr>
          <a:xfrm>
            <a:off x="3316224" y="1965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Specification Pattern" descr="Specification Patter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012" y="2101748"/>
            <a:ext cx="231343" cy="23134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" y="2560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Specification Pattern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914400" y="3017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استعلامات قابلة للتركيب، وعدّاد الـ paging بيتحسب صح</a:t>
            </a:r>
            <a:endParaRPr lang="ar-EG" sz="1500" dirty="0"/>
          </a:p>
        </p:txBody>
      </p:sp>
      <p:sp>
        <p:nvSpPr>
          <p:cNvPr id="19" name="Pattern Result Pattern"/>
          <p:cNvSpPr/>
          <p:nvPr/>
        </p:nvSpPr>
        <p:spPr>
          <a:xfrm>
            <a:off x="8095488" y="4069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ircle Result Pattern"/>
          <p:cNvSpPr/>
          <p:nvPr/>
        </p:nvSpPr>
        <p:spPr>
          <a:xfrm>
            <a:off x="10771632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Result Pattern" descr="Result Patte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7420" y="4387748"/>
            <a:ext cx="231343" cy="23134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69808" y="4846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Result Pattern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69808" y="5303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بدل الـ Exceptions، وبيتحول لـ HTTP status في مكان واحد</a:t>
            </a:r>
            <a:endParaRPr lang="ar-EG" sz="1500" dirty="0"/>
          </a:p>
        </p:txBody>
      </p:sp>
      <p:sp>
        <p:nvSpPr>
          <p:cNvPr id="24" name="Pattern Keyed DI"/>
          <p:cNvSpPr/>
          <p:nvPr/>
        </p:nvSpPr>
        <p:spPr>
          <a:xfrm>
            <a:off x="4367784" y="4069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Circle Keyed DI"/>
          <p:cNvSpPr/>
          <p:nvPr/>
        </p:nvSpPr>
        <p:spPr>
          <a:xfrm>
            <a:off x="7043928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con Keyed DI" descr="Keyed D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16" y="4387748"/>
            <a:ext cx="231343" cy="23134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42104" y="4846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Keyed DI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4642104" y="5303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الـ Seeders متسجلة بمفاتيح: Catalog و Identity و Delivery</a:t>
            </a:r>
            <a:endParaRPr lang="ar-EG" sz="1500" dirty="0"/>
          </a:p>
        </p:txBody>
      </p:sp>
      <p:sp>
        <p:nvSpPr>
          <p:cNvPr id="29" name="Pattern Soft Delete"/>
          <p:cNvSpPr/>
          <p:nvPr/>
        </p:nvSpPr>
        <p:spPr>
          <a:xfrm>
            <a:off x="640080" y="4069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Circle Soft Delete"/>
          <p:cNvSpPr/>
          <p:nvPr/>
        </p:nvSpPr>
        <p:spPr>
          <a:xfrm>
            <a:off x="3316224" y="42519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1" name="Icon Soft Delete" descr="Soft Delet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2012" y="4387748"/>
            <a:ext cx="231343" cy="23134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4400" y="4846320"/>
            <a:ext cx="2904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800" b="1" dirty="0">
                <a:solidFill>
                  <a:schemeClr val="tx1"/>
                </a:solidFill>
              </a:rPr>
              <a:t>Soft Delete</a:t>
            </a:r>
            <a:endParaRPr lang="en-US" sz="1800" dirty="0"/>
          </a:p>
        </p:txBody>
      </p:sp>
      <p:sp>
        <p:nvSpPr>
          <p:cNvPr id="33" name="Text 25"/>
          <p:cNvSpPr txBox="1"/>
          <p:nvPr/>
        </p:nvSpPr>
        <p:spPr>
          <a:xfrm>
            <a:off x="914400" y="5303520"/>
            <a:ext cx="29047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2"/>
                </a:solidFill>
              </a:rPr>
              <a:t>IsDeleted مع Global Query Filters بدل الحذف الفعلي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معالجة الأخطاء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Result Pattern بالتفصيل</a:t>
            </a:r>
            <a:endParaRPr lang="ar-EG" sz="2000" dirty="0"/>
          </a:p>
        </p:txBody>
      </p:sp>
      <p:sp>
        <p:nvSpPr>
          <p:cNvPr id="4" name="Code card"/>
          <p:cNvSpPr/>
          <p:nvPr/>
        </p:nvSpPr>
        <p:spPr>
          <a:xfrm>
            <a:off x="640080" y="1783080"/>
            <a:ext cx="5394960" cy="425196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1200" dirty="0">
                <a:solidFill>
                  <a:schemeClr val="tx2"/>
                </a:solidFill>
              </a:rPr>
              <a:t>Domain/Shared  (مختصر من الكود)</a:t>
            </a:r>
            <a:endParaRPr lang="ar-EG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846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Result&lt;T&gt; : Result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</a:t>
            </a:r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T? </a:t>
            </a:r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{ get;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IsSuccess, IsFailure, Errors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</a:t>
            </a:r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</a:t>
            </a:r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</a:t>
            </a:r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ErrorType </a:t>
            </a:r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ErrorType);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</a:t>
            </a:r>
            <a:pPr algn="l" indent="0" marL="0">
              <a:buNone/>
            </a:pPr>
            <a:r>
              <a:rPr lang="en-US" alt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ErrorType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Failure, Validation, NotFound,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Conflict, Unauthorized,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Forbidden, InvalidCredentials }</a:t>
            </a:r>
            <a:endParaRPr lang="en-US" sz="1400" dirty="0"/>
          </a:p>
        </p:txBody>
      </p:sp>
      <p:sp>
        <p:nvSpPr>
          <p:cNvPr id="7" name="Point 1"/>
          <p:cNvSpPr/>
          <p:nvPr/>
        </p:nvSpPr>
        <p:spPr>
          <a:xfrm>
            <a:off x="6400800" y="1874520"/>
            <a:ext cx="51480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8" name="Point icon 1" descr="نقطة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21488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675120" y="1874520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بدل try/catch ورمي Exceptions في كل مكان</a:t>
            </a:r>
            <a:endParaRPr lang="ar-EG" sz="1600" dirty="0"/>
          </a:p>
        </p:txBody>
      </p:sp>
      <p:sp>
        <p:nvSpPr>
          <p:cNvPr id="10" name="Point 2"/>
          <p:cNvSpPr/>
          <p:nvPr/>
        </p:nvSpPr>
        <p:spPr>
          <a:xfrm>
            <a:off x="6400800" y="2971800"/>
            <a:ext cx="51480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Point icon 2" descr="نقطة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3246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675120" y="2971800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بنرجع Result فيه Value و Errors و IsSuccess</a:t>
            </a:r>
            <a:endParaRPr lang="ar-EG" sz="1600" dirty="0"/>
          </a:p>
        </p:txBody>
      </p:sp>
      <p:sp>
        <p:nvSpPr>
          <p:cNvPr id="13" name="Point 3"/>
          <p:cNvSpPr/>
          <p:nvPr/>
        </p:nvSpPr>
        <p:spPr>
          <a:xfrm>
            <a:off x="6400800" y="4069080"/>
            <a:ext cx="51480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4" name="Point icon 3" descr="نقطة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8792" y="43434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675120" y="4069080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كل Error له code + description + ErrorType من 7 أنواع</a:t>
            </a:r>
            <a:endParaRPr lang="ar-EG" sz="1600" dirty="0"/>
          </a:p>
        </p:txBody>
      </p:sp>
      <p:sp>
        <p:nvSpPr>
          <p:cNvPr id="16" name="Point 4"/>
          <p:cNvSpPr/>
          <p:nvPr/>
        </p:nvSpPr>
        <p:spPr>
          <a:xfrm>
            <a:off x="6400800" y="5166360"/>
            <a:ext cx="514807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Point icon 4" descr="نقطة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8792" y="5440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5120" y="5166360"/>
            <a:ext cx="4005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ApiControllerBase بيحوّل أي ErrorType لـ HTTP status مناسب في مكان واحد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نظام الطلبات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Order Creation Flow</a:t>
            </a:r>
            <a:endParaRPr lang="ar-EG" sz="2000" dirty="0"/>
          </a:p>
        </p:txBody>
      </p:sp>
      <p:sp>
        <p:nvSpPr>
          <p:cNvPr id="4" name="Step 1"/>
          <p:cNvSpPr/>
          <p:nvPr/>
        </p:nvSpPr>
        <p:spPr>
          <a:xfrm>
            <a:off x="9623146" y="1783080"/>
            <a:ext cx="1925726" cy="292608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ircle جلب السلة"/>
          <p:cNvSpPr/>
          <p:nvPr/>
        </p:nvSpPr>
        <p:spPr>
          <a:xfrm>
            <a:off x="10725912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جلب السلة" descr="جلب السل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8734" y="21845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806026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accent5"/>
                </a:solidFill>
              </a:rPr>
              <a:t>01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9806026" y="2880360"/>
            <a:ext cx="15599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جلب السلة</a:t>
            </a:r>
            <a:endParaRPr lang="ar-EG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806026" y="3703320"/>
            <a:ext cx="15599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من Redis بالـ BasketId</a:t>
            </a:r>
            <a:endParaRPr lang="ar-EG" sz="1400" dirty="0"/>
          </a:p>
        </p:txBody>
      </p:sp>
      <p:pic>
        <p:nvPicPr>
          <p:cNvPr id="10" name="Flow arrow 1" descr="التالي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686" y="3154680"/>
            <a:ext cx="182880" cy="182880"/>
          </a:xfrm>
          <a:prstGeom prst="rect">
            <a:avLst/>
          </a:prstGeom>
        </p:spPr>
      </p:pic>
      <p:sp>
        <p:nvSpPr>
          <p:cNvPr id="11" name="Step 2"/>
          <p:cNvSpPr/>
          <p:nvPr/>
        </p:nvSpPr>
        <p:spPr>
          <a:xfrm>
            <a:off x="7377379" y="1783080"/>
            <a:ext cx="1925726" cy="292608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Circle التحقق من التوصيل"/>
          <p:cNvSpPr/>
          <p:nvPr/>
        </p:nvSpPr>
        <p:spPr>
          <a:xfrm>
            <a:off x="8480146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con التحقق من التوصيل" descr="التحقق من التوصيل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2967" y="218450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560259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accent5"/>
                </a:solidFill>
              </a:rPr>
              <a:t>02</a:t>
            </a:r>
            <a:endParaRPr lang="en-US" sz="2800" dirty="0"/>
          </a:p>
        </p:txBody>
      </p:sp>
      <p:sp>
        <p:nvSpPr>
          <p:cNvPr id="15" name="Text 10"/>
          <p:cNvSpPr txBox="1"/>
          <p:nvPr/>
        </p:nvSpPr>
        <p:spPr>
          <a:xfrm>
            <a:off x="7560259" y="2880360"/>
            <a:ext cx="15599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التحقق من التوصيل</a:t>
            </a:r>
            <a:endParaRPr lang="ar-EG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560259" y="3703320"/>
            <a:ext cx="15599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طريقة التوصيل بالـ Specification</a:t>
            </a:r>
            <a:endParaRPr lang="ar-EG" sz="1400" dirty="0"/>
          </a:p>
        </p:txBody>
      </p:sp>
      <p:pic>
        <p:nvPicPr>
          <p:cNvPr id="17" name="Flow arrow 2" descr="التال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19" y="3154680"/>
            <a:ext cx="182880" cy="182880"/>
          </a:xfrm>
          <a:prstGeom prst="rect">
            <a:avLst/>
          </a:prstGeom>
        </p:spPr>
      </p:pic>
      <p:sp>
        <p:nvSpPr>
          <p:cNvPr id="18" name="Step 3"/>
          <p:cNvSpPr/>
          <p:nvPr/>
        </p:nvSpPr>
        <p:spPr>
          <a:xfrm>
            <a:off x="5131613" y="1783080"/>
            <a:ext cx="1925726" cy="292608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Circle التحقق من العميل"/>
          <p:cNvSpPr/>
          <p:nvPr/>
        </p:nvSpPr>
        <p:spPr>
          <a:xfrm>
            <a:off x="6234379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 التحقق من العميل" descr="التحقق من العميل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201" y="2184502"/>
            <a:ext cx="294437" cy="29443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14493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accent5"/>
                </a:solidFill>
              </a:rPr>
              <a:t>03</a:t>
            </a:r>
            <a:endParaRPr lang="en-US" sz="2800" dirty="0"/>
          </a:p>
        </p:txBody>
      </p:sp>
      <p:sp>
        <p:nvSpPr>
          <p:cNvPr id="22" name="Text 15"/>
          <p:cNvSpPr txBox="1"/>
          <p:nvPr/>
        </p:nvSpPr>
        <p:spPr>
          <a:xfrm>
            <a:off x="5314493" y="2880360"/>
            <a:ext cx="15599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التحقق من العميل</a:t>
            </a:r>
            <a:endParaRPr lang="ar-EG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314493" y="3703320"/>
            <a:ext cx="15599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البحث بالإيميل</a:t>
            </a:r>
            <a:endParaRPr lang="ar-EG" sz="1400" dirty="0"/>
          </a:p>
        </p:txBody>
      </p:sp>
      <p:pic>
        <p:nvPicPr>
          <p:cNvPr id="24" name="Flow arrow 3" descr="التالي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153" y="3154680"/>
            <a:ext cx="182880" cy="182880"/>
          </a:xfrm>
          <a:prstGeom prst="rect">
            <a:avLst/>
          </a:prstGeom>
        </p:spPr>
      </p:pic>
      <p:sp>
        <p:nvSpPr>
          <p:cNvPr id="25" name="Step 4"/>
          <p:cNvSpPr/>
          <p:nvPr/>
        </p:nvSpPr>
        <p:spPr>
          <a:xfrm>
            <a:off x="2885846" y="1783080"/>
            <a:ext cx="1925726" cy="292608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Circle إنشاء الطلب"/>
          <p:cNvSpPr/>
          <p:nvPr/>
        </p:nvSpPr>
        <p:spPr>
          <a:xfrm>
            <a:off x="3988613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 إنشاء الطلب" descr="إنشاء الطلب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1434" y="2184502"/>
            <a:ext cx="294437" cy="294437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068726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accent5"/>
                </a:solidFill>
              </a:rPr>
              <a:t>04</a:t>
            </a:r>
            <a:endParaRPr lang="en-US" sz="2800" dirty="0"/>
          </a:p>
        </p:txBody>
      </p:sp>
      <p:sp>
        <p:nvSpPr>
          <p:cNvPr id="29" name="Text 20"/>
          <p:cNvSpPr txBox="1"/>
          <p:nvPr/>
        </p:nvSpPr>
        <p:spPr>
          <a:xfrm>
            <a:off x="3068726" y="2880360"/>
            <a:ext cx="15599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إنشاء الطلب</a:t>
            </a:r>
            <a:endParaRPr lang="ar-EG" sz="1800" dirty="0"/>
          </a:p>
        </p:txBody>
      </p:sp>
      <p:sp>
        <p:nvSpPr>
          <p:cNvPr id="30" name="Text 21"/>
          <p:cNvSpPr txBox="1"/>
          <p:nvPr/>
        </p:nvSpPr>
        <p:spPr>
          <a:xfrm>
            <a:off x="3068726" y="3703320"/>
            <a:ext cx="15599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OrderItems من السلة ثم Order.Create</a:t>
            </a:r>
            <a:endParaRPr lang="ar-EG" sz="1400" dirty="0"/>
          </a:p>
        </p:txBody>
      </p:sp>
      <p:pic>
        <p:nvPicPr>
          <p:cNvPr id="31" name="Flow arrow 4" descr="التالي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4386" y="3154680"/>
            <a:ext cx="182880" cy="182880"/>
          </a:xfrm>
          <a:prstGeom prst="rect">
            <a:avLst/>
          </a:prstGeom>
        </p:spPr>
      </p:pic>
      <p:sp>
        <p:nvSpPr>
          <p:cNvPr id="32" name="Step 5"/>
          <p:cNvSpPr/>
          <p:nvPr/>
        </p:nvSpPr>
        <p:spPr>
          <a:xfrm>
            <a:off x="640080" y="1783080"/>
            <a:ext cx="1925726" cy="2926080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Circle حفظ الطلب"/>
          <p:cNvSpPr/>
          <p:nvPr/>
        </p:nvSpPr>
        <p:spPr>
          <a:xfrm>
            <a:off x="1742846" y="2011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con حفظ الطلب" descr="حفظ الطلب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5668" y="2184502"/>
            <a:ext cx="294437" cy="29443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2296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accent5"/>
                </a:solidFill>
              </a:rPr>
              <a:t>05</a:t>
            </a:r>
            <a:endParaRPr lang="en-US" sz="2800" dirty="0"/>
          </a:p>
        </p:txBody>
      </p:sp>
      <p:sp>
        <p:nvSpPr>
          <p:cNvPr id="36" name="Text 25"/>
          <p:cNvSpPr txBox="1"/>
          <p:nvPr/>
        </p:nvSpPr>
        <p:spPr>
          <a:xfrm>
            <a:off x="822960" y="2880360"/>
            <a:ext cx="155996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حفظ الطلب</a:t>
            </a:r>
            <a:endParaRPr lang="ar-EG" sz="1800" dirty="0"/>
          </a:p>
        </p:txBody>
      </p:sp>
      <p:sp>
        <p:nvSpPr>
          <p:cNvPr id="37" name="Text 26"/>
          <p:cNvSpPr txBox="1"/>
          <p:nvPr/>
        </p:nvSpPr>
        <p:spPr>
          <a:xfrm>
            <a:off x="822960" y="3703320"/>
            <a:ext cx="155996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SaveChanges واحدة عبر Unit of Work</a:t>
            </a:r>
            <a:endParaRPr lang="ar-EG" sz="1400" dirty="0"/>
          </a:p>
        </p:txBody>
      </p:sp>
      <p:sp>
        <p:nvSpPr>
          <p:cNvPr id="38" name="Order note"/>
          <p:cNvSpPr/>
          <p:nvPr/>
        </p:nvSpPr>
        <p:spPr>
          <a:xfrm>
            <a:off x="640080" y="5074920"/>
            <a:ext cx="10908792" cy="82296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914400" y="507492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accent4"/>
                </a:solidFill>
              </a:rPr>
              <a:t>أي خطوة بتفشل بترجع Result فيه Error واضح (NotFound أو Validation) بدل Exception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الفوائد للمستخدمين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إيه اللي بيكسبه المستخدم</a:t>
            </a:r>
            <a:endParaRPr lang="ar-EG" sz="2000" dirty="0"/>
          </a:p>
        </p:txBody>
      </p:sp>
      <p:sp>
        <p:nvSpPr>
          <p:cNvPr id="4" name="Benefit سرعة فائقة"/>
          <p:cNvSpPr/>
          <p:nvPr/>
        </p:nvSpPr>
        <p:spPr>
          <a:xfrm>
            <a:off x="6231636" y="1783080"/>
            <a:ext cx="531723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Circle سرعة فائقة"/>
          <p:cNvSpPr/>
          <p:nvPr/>
        </p:nvSpPr>
        <p:spPr>
          <a:xfrm>
            <a:off x="10314432" y="23088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 سرعة فائقة" descr="سرعة فائق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5557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51676" y="2103120"/>
            <a:ext cx="3497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tx1"/>
                </a:solidFill>
              </a:rPr>
              <a:t>سرعة فائقة</a:t>
            </a:r>
            <a:endParaRPr lang="ar-EG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551676" y="269748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</a:rPr>
              <a:t>Redis Cache لقائمة المنتجات، والسلة نفسها على Redis</a:t>
            </a:r>
            <a:endParaRPr lang="ar-EG" sz="1600" dirty="0"/>
          </a:p>
        </p:txBody>
      </p:sp>
      <p:sp>
        <p:nvSpPr>
          <p:cNvPr id="9" name="Benefit أمان كامل"/>
          <p:cNvSpPr/>
          <p:nvPr/>
        </p:nvSpPr>
        <p:spPr>
          <a:xfrm>
            <a:off x="640080" y="1783080"/>
            <a:ext cx="531723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Circle أمان كامل"/>
          <p:cNvSpPr/>
          <p:nvPr/>
        </p:nvSpPr>
        <p:spPr>
          <a:xfrm>
            <a:off x="4722876" y="23088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 أمان كامل" descr="أمان كامل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255574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60120" y="2103120"/>
            <a:ext cx="3497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tx1"/>
                </a:solidFill>
              </a:rPr>
              <a:t>أمان كامل</a:t>
            </a:r>
            <a:endParaRPr lang="ar-EG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960120" y="269748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</a:rPr>
              <a:t>JWT مع ASP.NET Identity وأدوار Admin و SuperAdmin و User</a:t>
            </a:r>
            <a:endParaRPr lang="ar-EG" sz="1600" dirty="0"/>
          </a:p>
        </p:txBody>
      </p:sp>
      <p:sp>
        <p:nvSpPr>
          <p:cNvPr id="14" name="Benefit تجربة سلسة"/>
          <p:cNvSpPr/>
          <p:nvPr/>
        </p:nvSpPr>
        <p:spPr>
          <a:xfrm>
            <a:off x="6231636" y="4023360"/>
            <a:ext cx="531723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Circle تجربة سلسة"/>
          <p:cNvSpPr/>
          <p:nvPr/>
        </p:nvSpPr>
        <p:spPr>
          <a:xfrm>
            <a:off x="10314432" y="45491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 تجربة سلسة" descr="تجربة سلسة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79602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51676" y="4343400"/>
            <a:ext cx="3497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tx1"/>
                </a:solidFill>
              </a:rPr>
              <a:t>تجربة سلسة</a:t>
            </a:r>
            <a:endParaRPr lang="ar-EG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6551676" y="493776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</a:rPr>
              <a:t>سلة محفوظة على السيرفر لمدة 7 أيام</a:t>
            </a:r>
            <a:endParaRPr lang="ar-EG" sz="1600" dirty="0"/>
          </a:p>
        </p:txBody>
      </p:sp>
      <p:sp>
        <p:nvSpPr>
          <p:cNvPr id="19" name="Benefit كتالوج غني"/>
          <p:cNvSpPr/>
          <p:nvPr/>
        </p:nvSpPr>
        <p:spPr>
          <a:xfrm>
            <a:off x="640080" y="4023360"/>
            <a:ext cx="5317236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Circle كتالوج غني"/>
          <p:cNvSpPr/>
          <p:nvPr/>
        </p:nvSpPr>
        <p:spPr>
          <a:xfrm>
            <a:off x="4722876" y="454914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on كتالوج غني" descr="كتالوج غني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479602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0120" y="4343400"/>
            <a:ext cx="34975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tx1"/>
                </a:solidFill>
              </a:rPr>
              <a:t>كتالوج غني</a:t>
            </a:r>
            <a:endParaRPr lang="ar-EG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" y="4937760"/>
            <a:ext cx="34975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2"/>
                </a:solidFill>
              </a:rPr>
              <a:t>بحث وترتيب وتقسيم صفحات، مع درجات التحميص وأنواع الطحن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الجودة والتشغيل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مش كود بس، مشروع جاهز للتشغيل</a:t>
            </a:r>
            <a:endParaRPr lang="ar-EG" sz="2000" dirty="0"/>
          </a:p>
        </p:txBody>
      </p:sp>
      <p:sp>
        <p:nvSpPr>
          <p:cNvPr id="4" name="Stat اختبار آلي بـ xUnit"/>
          <p:cNvSpPr/>
          <p:nvPr/>
        </p:nvSpPr>
        <p:spPr>
          <a:xfrm>
            <a:off x="8993124" y="1783080"/>
            <a:ext cx="2555748" cy="3017520"/>
          </a:xfrm>
          <a:prstGeom prst="roundRect">
            <a:avLst>
              <a:gd name="adj" fmla="val 429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21724" y="201168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5400" b="1" dirty="0">
                <a:solidFill>
                  <a:schemeClr val="accent1"/>
                </a:solidFill>
              </a:rPr>
              <a:t>138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221724" y="3063240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</a:rPr>
              <a:t>اختبار آلي بـ xUnit</a:t>
            </a:r>
            <a:endParaRPr lang="ar-EG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221724" y="374904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في Domain و Application و Infrastructure و Api</a:t>
            </a:r>
            <a:endParaRPr lang="ar-EG" sz="1400" dirty="0"/>
          </a:p>
        </p:txBody>
      </p:sp>
      <p:sp>
        <p:nvSpPr>
          <p:cNvPr id="8" name="Stat قاعدتي بيانات منفصلتين"/>
          <p:cNvSpPr/>
          <p:nvPr/>
        </p:nvSpPr>
        <p:spPr>
          <a:xfrm>
            <a:off x="6208776" y="1783080"/>
            <a:ext cx="2555748" cy="3017520"/>
          </a:xfrm>
          <a:prstGeom prst="roundRect">
            <a:avLst>
              <a:gd name="adj" fmla="val 429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37376" y="201168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5400" b="1" dirty="0">
                <a:solidFill>
                  <a:schemeClr val="accent1"/>
                </a:solidFill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3063240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</a:rPr>
              <a:t>قاعدتي بيانات منفصلتين</a:t>
            </a:r>
            <a:endParaRPr lang="ar-EG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374904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الكتالوج والهوية، ولكل واحدة migrations</a:t>
            </a:r>
            <a:endParaRPr lang="ar-EG" sz="1400" dirty="0"/>
          </a:p>
        </p:txBody>
      </p:sp>
      <p:sp>
        <p:nvSpPr>
          <p:cNvPr id="12" name="Stat خدمات في Docker Compose"/>
          <p:cNvSpPr/>
          <p:nvPr/>
        </p:nvSpPr>
        <p:spPr>
          <a:xfrm>
            <a:off x="3424428" y="1783080"/>
            <a:ext cx="2555748" cy="3017520"/>
          </a:xfrm>
          <a:prstGeom prst="roundRect">
            <a:avLst>
              <a:gd name="adj" fmla="val 429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3028" y="201168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5400" b="1" dirty="0">
                <a:solidFill>
                  <a:schemeClr val="accent1"/>
                </a:solidFill>
              </a:rPr>
              <a:t>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3653028" y="3063240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</a:rPr>
              <a:t>خدمات في Docker Compose</a:t>
            </a:r>
            <a:endParaRPr lang="ar-EG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53028" y="374904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الـ API و SQL Server و Redis</a:t>
            </a:r>
            <a:endParaRPr lang="ar-EG" sz="1400" dirty="0"/>
          </a:p>
        </p:txBody>
      </p:sp>
      <p:sp>
        <p:nvSpPr>
          <p:cNvPr id="16" name="Stat GitHub Actions"/>
          <p:cNvSpPr/>
          <p:nvPr/>
        </p:nvSpPr>
        <p:spPr>
          <a:xfrm>
            <a:off x="640080" y="1783080"/>
            <a:ext cx="2555748" cy="3017520"/>
          </a:xfrm>
          <a:prstGeom prst="roundRect">
            <a:avLst>
              <a:gd name="adj" fmla="val 4293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201168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5400" b="1" dirty="0">
                <a:solidFill>
                  <a:schemeClr val="accent1"/>
                </a:solidFill>
              </a:rPr>
              <a:t>CI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063240"/>
            <a:ext cx="2098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700" b="1" dirty="0">
                <a:solidFill>
                  <a:schemeClr val="tx1"/>
                </a:solidFill>
              </a:rPr>
              <a:t>GitHub Actions</a:t>
            </a:r>
            <a:endParaRPr lang="ar-EG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3749040"/>
            <a:ext cx="20985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Build واختبارات وتقرير تغطية مع كل Push</a:t>
            </a:r>
            <a:endParaRPr lang="ar-EG" sz="1400" dirty="0"/>
          </a:p>
        </p:txBody>
      </p:sp>
      <p:sp>
        <p:nvSpPr>
          <p:cNvPr id="20" name="Pill Swagger"/>
          <p:cNvSpPr/>
          <p:nvPr/>
        </p:nvSpPr>
        <p:spPr>
          <a:xfrm>
            <a:off x="10177272" y="525780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177272" y="5257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Swagger</a:t>
            </a:r>
            <a:endParaRPr lang="en-US" sz="1300" dirty="0"/>
          </a:p>
        </p:txBody>
      </p:sp>
      <p:sp>
        <p:nvSpPr>
          <p:cNvPr id="22" name="Pill FluentValidation"/>
          <p:cNvSpPr/>
          <p:nvPr/>
        </p:nvSpPr>
        <p:spPr>
          <a:xfrm>
            <a:off x="8119872" y="5257800"/>
            <a:ext cx="19202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5257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FluentValidation</a:t>
            </a:r>
            <a:endParaRPr lang="en-US" sz="1300" dirty="0"/>
          </a:p>
        </p:txBody>
      </p:sp>
      <p:sp>
        <p:nvSpPr>
          <p:cNvPr id="24" name="Pill AutoMapper"/>
          <p:cNvSpPr/>
          <p:nvPr/>
        </p:nvSpPr>
        <p:spPr>
          <a:xfrm>
            <a:off x="6428232" y="5257800"/>
            <a:ext cx="155448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5257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AutoMapper</a:t>
            </a:r>
            <a:endParaRPr lang="en-US" sz="1300" dirty="0"/>
          </a:p>
        </p:txBody>
      </p:sp>
      <p:sp>
        <p:nvSpPr>
          <p:cNvPr id="26" name="Pill Redis"/>
          <p:cNvSpPr/>
          <p:nvPr/>
        </p:nvSpPr>
        <p:spPr>
          <a:xfrm>
            <a:off x="5285232" y="52578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285232" y="5257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Redis</a:t>
            </a:r>
            <a:endParaRPr lang="en-US" sz="1300" dirty="0"/>
          </a:p>
        </p:txBody>
      </p:sp>
      <p:sp>
        <p:nvSpPr>
          <p:cNvPr id="28" name="Pill SQL Server"/>
          <p:cNvSpPr/>
          <p:nvPr/>
        </p:nvSpPr>
        <p:spPr>
          <a:xfrm>
            <a:off x="3685032" y="52578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85032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SQL Server</a:t>
            </a:r>
            <a:endParaRPr lang="en-US" sz="1300" dirty="0"/>
          </a:p>
        </p:txBody>
      </p:sp>
      <p:sp>
        <p:nvSpPr>
          <p:cNvPr id="30" name="Pill EF Core 10"/>
          <p:cNvSpPr/>
          <p:nvPr/>
        </p:nvSpPr>
        <p:spPr>
          <a:xfrm>
            <a:off x="2084832" y="52578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84832" y="5257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EF Core 10</a:t>
            </a:r>
            <a:endParaRPr lang="en-US" sz="1300" dirty="0"/>
          </a:p>
        </p:txBody>
      </p:sp>
      <p:sp>
        <p:nvSpPr>
          <p:cNvPr id="32" name="Pill .NET 10"/>
          <p:cNvSpPr/>
          <p:nvPr/>
        </p:nvSpPr>
        <p:spPr>
          <a:xfrm>
            <a:off x="758952" y="5257800"/>
            <a:ext cx="1188720" cy="457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952" y="5257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tx1"/>
                </a:solidFill>
              </a:rPr>
              <a:t>.NET 10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600" b="1" dirty="0">
                <a:solidFill>
                  <a:schemeClr val="tx1"/>
                </a:solidFill>
              </a:rPr>
              <a:t>المشروع جاهز للتوسع</a:t>
            </a:r>
            <a:endParaRPr lang="ar-EG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1"/>
                </a:solidFill>
              </a:rPr>
              <a:t>الوضع الحالي والخطوات القادمة</a:t>
            </a:r>
            <a:endParaRPr lang="ar-EG" sz="2000" dirty="0"/>
          </a:p>
        </p:txBody>
      </p:sp>
      <p:sp>
        <p:nvSpPr>
          <p:cNvPr id="4" name="Column جاهز"/>
          <p:cNvSpPr/>
          <p:nvPr/>
        </p:nvSpPr>
        <p:spPr>
          <a:xfrm>
            <a:off x="6231636" y="1783080"/>
            <a:ext cx="531723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51676" y="192024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accent1"/>
                </a:solidFill>
              </a:rPr>
              <a:t>جاهز</a:t>
            </a:r>
            <a:endParaRPr lang="ar-EG" sz="2400" dirty="0"/>
          </a:p>
        </p:txBody>
      </p:sp>
      <p:pic>
        <p:nvPicPr>
          <p:cNvPr id="6" name="Item icon الكتالوج والبحث والترتيب" descr="الكتالوج والبحث والترتي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6224" y="26426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51676" y="2560320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الكتالوج والبحث والترتيب</a:t>
            </a:r>
            <a:endParaRPr lang="ar-EG" sz="1800" dirty="0"/>
          </a:p>
        </p:txBody>
      </p:sp>
      <p:pic>
        <p:nvPicPr>
          <p:cNvPr id="8" name="Item icon السلة على Redis" descr="السلة على Red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6224" y="317296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551676" y="3090672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السلة على Redis</a:t>
            </a:r>
            <a:endParaRPr lang="ar-EG" sz="1800" dirty="0"/>
          </a:p>
        </p:txBody>
      </p:sp>
      <p:pic>
        <p:nvPicPr>
          <p:cNvPr id="10" name="Item icon التسجيل والدخول ودفتر العناوين" descr="التسجيل والدخول ودفتر العناوين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224" y="370332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551676" y="3621024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التسجيل والدخول ودفتر العناوين</a:t>
            </a:r>
            <a:endParaRPr lang="ar-EG" sz="1800" dirty="0"/>
          </a:p>
        </p:txBody>
      </p:sp>
      <p:pic>
        <p:nvPicPr>
          <p:cNvPr id="12" name="Item icon منطق الطلبات والحفظ" descr="منطق الطلبات والحفظ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6224" y="4233672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551676" y="4151376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منطق الطلبات والحفظ</a:t>
            </a:r>
            <a:endParaRPr lang="ar-EG" sz="1800" dirty="0"/>
          </a:p>
        </p:txBody>
      </p:sp>
      <p:sp>
        <p:nvSpPr>
          <p:cNvPr id="14" name="Column القادم"/>
          <p:cNvSpPr/>
          <p:nvPr/>
        </p:nvSpPr>
        <p:spPr>
          <a:xfrm>
            <a:off x="640080" y="1783080"/>
            <a:ext cx="5317236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960120" y="1920240"/>
            <a:ext cx="46771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accent1"/>
                </a:solidFill>
              </a:rPr>
              <a:t>القادم</a:t>
            </a:r>
            <a:endParaRPr lang="ar-EG" sz="2400" dirty="0"/>
          </a:p>
        </p:txBody>
      </p:sp>
      <p:pic>
        <p:nvPicPr>
          <p:cNvPr id="16" name="Item icon إكمال Endpoints الطلبات" descr="إكمال Endpoints الطلبات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668" y="2642616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0120" y="2560320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إكمال Endpoints الطلبات</a:t>
            </a:r>
            <a:endParaRPr lang="ar-EG" sz="1800" dirty="0"/>
          </a:p>
        </p:txBody>
      </p:sp>
      <p:pic>
        <p:nvPicPr>
          <p:cNvPr id="18" name="Item icon الدفع (Paymob و Fawry)" descr="الدفع (Paymob و Fawry)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668" y="3172968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60120" y="3090672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الدفع (Paymob و Fawry)</a:t>
            </a:r>
            <a:endParaRPr lang="ar-EG" sz="1800" dirty="0"/>
          </a:p>
        </p:txBody>
      </p:sp>
      <p:pic>
        <p:nvPicPr>
          <p:cNvPr id="20" name="Item icon تتبع حالة الطلب" descr="تتبع حالة الطلب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4668" y="370332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60120" y="3621024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تتبع حالة الطلب</a:t>
            </a:r>
            <a:endParaRPr lang="ar-EG" sz="1800" dirty="0"/>
          </a:p>
        </p:txBody>
      </p:sp>
      <p:pic>
        <p:nvPicPr>
          <p:cNvPr id="22" name="Item icon الإشعارات" descr="الإشعارات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4668" y="4233672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60120" y="4151376"/>
            <a:ext cx="4201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الإشعارات</a:t>
            </a:r>
            <a:endParaRPr lang="ar-EG" sz="1800" dirty="0"/>
          </a:p>
        </p:txBody>
      </p:sp>
      <p:sp>
        <p:nvSpPr>
          <p:cNvPr id="24" name="Closing banner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Closing circle"/>
          <p:cNvSpPr/>
          <p:nvPr/>
        </p:nvSpPr>
        <p:spPr>
          <a:xfrm>
            <a:off x="10634472" y="5257800"/>
            <a:ext cx="640080" cy="64008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6" name="Closing icon" descr="Coffe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7352" y="5440680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4572000" y="5120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400" b="1" dirty="0">
                <a:solidFill>
                  <a:schemeClr val="bg1"/>
                </a:solidFill>
              </a:rPr>
              <a:t>أساس متين لمتجر قهوة إلكتروني</a:t>
            </a:r>
            <a:endParaRPr lang="ar-EG" sz="2400" dirty="0"/>
          </a:p>
        </p:txBody>
      </p:sp>
      <p:sp>
        <p:nvSpPr>
          <p:cNvPr id="28" name="Text 17"/>
          <p:cNvSpPr txBox="1"/>
          <p:nvPr/>
        </p:nvSpPr>
        <p:spPr>
          <a:xfrm>
            <a:off x="914400" y="51206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github.com/EngMohamedNowar/CoffeeStore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ffeeStore Dark">
  <a:themeElements>
    <a:clrScheme name="CoffeeStore Dark">
      <a:dk1>
        <a:srgbClr val="F4ECE2"/>
      </a:dk1>
      <a:lt1>
        <a:srgbClr val="16100D"/>
      </a:lt1>
      <a:dk2>
        <a:srgbClr val="A8998A"/>
      </a:dk2>
      <a:lt2>
        <a:srgbClr val="231B16"/>
      </a:lt2>
      <a:accent1>
        <a:srgbClr val="D4A06A"/>
      </a:accent1>
      <a:accent2>
        <a:srgbClr val="C0392B"/>
      </a:accent2>
      <a:accent3>
        <a:srgbClr val="7FB685"/>
      </a:accent3>
      <a:accent4>
        <a:srgbClr val="E8D5B7"/>
      </a:accent4>
      <a:accent5>
        <a:srgbClr val="6F4E37"/>
      </a:accent5>
      <a:accent6>
        <a:srgbClr val="3A2D25"/>
      </a:accent6>
      <a:hlink>
        <a:srgbClr val="D4A06A"/>
      </a:hlink>
      <a:folHlink>
        <a:srgbClr val="A8998A"/>
      </a:folHlink>
    </a:clrScheme>
    <a:fontScheme name="CoffeeStore Dark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CoffeeStore E-Commerce</dc:title>
  <dc:subject>PptxGenJS Presentation</dc:subject>
  <dc:creator>Mohamed Nowar</dc:creator>
  <cp:lastModifiedBy>Mohamed Nowar</cp:lastModifiedBy>
  <cp:revision>1</cp:revision>
  <dcterms:created xsi:type="dcterms:W3CDTF">2026-10-11T16:14:42Z</dcterms:created>
  <dcterms:modified xsi:type="dcterms:W3CDTF">2026-10-11T16:14:42Z</dcterms:modified>
</cp:coreProperties>
</file>