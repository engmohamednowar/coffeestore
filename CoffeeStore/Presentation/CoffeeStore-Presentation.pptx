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 standalone="yes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<p:cNvPr id="1" name="/><p:cNvGrpSpPr/><p:nvPr/></p:nvGrpSpPr>
      <p:grpSpPr><a:xfrm><a:off x="0" y="0"/><a:ext cx="0" cy="0"/><a:chOff x="0" y="0"/><a:chExt cx="0" cy="0"/></a:xfrm></p:grpSpPr>
    </p:spTree>
  </p:cSld>
  <p:clrMapOvr><a:overrideClrMapping bg1="lt1" tx1="dk1" bg2="lt2" tx2="dk2" accent1="accent1" accent2="accent2" accent3="accent3" accent4="accent4" accent5="accent5" accent6="accent6" hlink="hlink" folHlink="folHlink"/>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 standalone="yes"?>
<p:sldMaster xmlns:a="http://schemas.openxmlformats.org/drawingml/2006/main" xmlns:r="http://schemas.openxmlformats.org/officeDocument/2006/relationships" xmlns:p="http://schemas.openxmlformats.org/presentationml/2006/main">
  <p:cSld>
    <p:bg><p:bgPr><a:solidFill><a:srgbClr val="0A0A0A"/></a:solidFill></p:bgPr></p:bg>
    <p:spTree>
      <p:nvGrpSpPr><p:cNvPr id="1" name="/><p:cNvGrpSpPr/><p:nvPr/></p:nvGrpSpPr>
      <p:grpSpPr><a:xfrm><a:off x="0" y="0"/><a:ext cx="0" cy="0"/><a:chOff x="0" y="0"/><a:chExt cx="0" cy="0"/></a:xfrm></p:grpSpPr>
    </p:spTree>
  </p:cSld>
  <p:clrMap bg1="lt1" tx1="dk1" bg2="lt2" tx2="dk2" accent1="accent1" accent2="accent2" accent3="accent3" accent4="accent4" accent5="accent5" accent6="accent6" hlink="hlink" folHlink="folHlink"/>
  <p:sldLayoutIdLst><p:sldLayoutId id="2147483649" r:id="rId1"/></p:sldLayoutIdLst>
  <p:txStyles>
    <p:titleStyle><a:lvl1pPr><a:defRPr sz="4400" b="1"><a:solidFill><a:srgbClr val="FFFFFF"/></a:solidFill><a:latin typeface="Segoe UI"/></a:defRPr></a:lvl1pPr></p:titleStyle>
    <p:bodyStyle><a:lvl1pPr><a:defRPr sz="2400"><a:solidFill><a:srgbClr val="C0392B"/></a:solidFill><a:latin typeface="Segoe UI"/></a:defRPr></a:lvl1pPr></p:bodyStyle>
    <p:otherStyle><a:lvl1pPr><a:defRPr sz="1800"><a:solidFill><a:srgbClr val="CCCCCC"/></a:solidFill><a:latin typeface="Segoe UI"/></a:defRPr></a:lvl1pPr>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 standalone="yes"?>
<p:sld xmlns:a="http://schemas.openxmlformats.org/drawingml/2006/main" xmlns:r="http://schemas.openxmlformats.org/officeDocument/2006/relationships" xmlns:p="http://schemas.openxmlformats.org/presentationml/2006/main">
  <p:cSld>
    <p:bg><p:bgPr><a:solidFill><a:srgbClr val="0A0A0A"/></a:solidFill></p:bgPr></p:bg>
    <p:spTree>
      <p:nvGrpSpPr><p:cNvPr id="1" name="/><p:cNvGrpSpPr/><p:nvPr/></p:nvGrpSpPr>
      <p:grpSpPr><a:xfrm><a:off x="0" y="0"/><a:ext cx="0" cy="0"/><a:chOff x="0" y="0"/><a:chExt cx="0" cy="0"/></a:xfrm></p:grpSpPr>
      <p:sp>
        <p:nvSpPr><p:cNvPr id="2" name="Title"/><p:cNvSpPr/><p:nvPr/></p:nvSpPr>
        <p:spPr/>
        <p:txBody>
          <a:bodyPr rtlCol="1" anchor="t"/><a:lstStyle/>
          <a:p><a:pPr rtl="1" algn="l"><a:lnSpc><a:spcPct val="150000"/></a:lnSpc></a:pPr><a:r><a:rPr lang="ar-SA" sz="4400" b="1"><a:solidFill><a:srgbClr val="FFFFFF"/></a:solidFill><a:latin typeface="Segoe UI"/></a:rPr><a:t>CoffeeStore E-Commerce</a:t></a:r></a:p>
          <a:p><a:pPr rtl="1" algn="l"/><a:r><a:rPr lang="ar-SA" sz="2400"><a:solidFill><a:srgbClr val="C0392B"/></a:solidFill><a:latin typeface="Segoe UI"/></a:rPr><a:t>نظام إدارة متجر قهوة إلكتروني</a:t></a:r></a:p>
        </p:txBody>
      </p:sp>
      <p:sp>
        <p:nvSpPr><p:cNvPr id="3" name="Content"/><p:cNvSpPr/><p:nvPr/></p:nvSpPr>
        <p:spPr/>
        <p:txBody>
          <a:bodyPr rtlCol="1" anchor="t"/><a:lstStyle/>
          <a:p><a:pPr rtl="1" algn="l" marL="285750" indent="-285750"><a:buChar char="&#8226;"/></a:pPr><a:r><a:rPr lang="ar-SA" sz="1800"><a:solidFill><a:srgbClr val="CCCCCC"/></a:solidFill><a:latin typeface="Segoe UI"/></a:rPr><a:t>منصة تجارة إلكترونية متكاملة مبنية بأحدث معمارات .NET</a:t></a:r></a:p>\n          <a:p><a:pPr rtl="1" algn="l" marL="285750" indent="-285750"><a:buChar char="&#8226;"/></a:pPr><a:r><a:rPr lang="ar-SA" sz="1800"><a:solidFill><a:srgbClr val="CCCCCC"/></a:solidFill><a:latin typeface="Segoe UI"/></a:rPr><a:t>معمارية نظيفة - أداء عالي - قابلية توسع غير محدود</a:t></a:r></a:p>\n          <a:p><a:pPr rtl="1" algn="l" marL="285750" indent="-285750"><a:buChar char="&#8226;"/></a:pPr><a:r><a:rPr lang="ar-SA" sz="1800"><a:solidFill><a:srgbClr val="CCCCCC"/></a:solidFill><a:latin typeface="Segoe UI"/></a:rPr><a:t>.NET 9 - Clean Architecture - CQRS - Unit of Work - Specification Pattern</a:t></a:r></a:p>\n        </p:txBody>
      </p:sp>
    </p:spTree>
  </p:cSld>
  <p:clrMapOvr><a:overrideClrMapping bg1="lt1" tx1="dk1" bg2="lt2" tx2="dk2" accent1="accent1" accent2="accent2" accent3="accent3" accent4="accent4" accent5="accent5" accent6="accent6" hlink="hlink" folHlink="folHlink"/></p:clrMapOvr>
</p:sld>
</file>

<file path=ppt/slides/slide2.xml><?xml version="1.0" encoding="UTF-8" standalone="yes"?>
<p:sld xmlns:a="http://schemas.openxmlformats.org/drawingml/2006/main" xmlns:r="http://schemas.openxmlformats.org/officeDocument/2006/relationships" xmlns:p="http://schemas.openxmlformats.org/presentationml/2006/main">
  <p:cSld>
    <p:bg><p:bgPr><a:solidFill><a:srgbClr val="0A0A0A"/></a:solidFill></p:bgPr></p:bg>
    <p:spTree>
      <p:nvGrpSpPr><p:cNvPr id="1" name="/><p:cNvGrpSpPr/><p:nvPr/></p:nvGrpSpPr>
      <p:grpSpPr><a:xfrm><a:off x="0" y="0"/><a:ext cx="0" cy="0"/><a:chOff x="0" y="0"/><a:chExt cx="0" cy="0"/></a:xfrm></p:grpSpPr>
      <p:sp>
        <p:nvSpPr><p:cNvPr id="2" name="Title"/><p:cNvSpPr/><p:nvPr/></p:nvSpPr>
        <p:spPr/>
        <p:txBody>
          <a:bodyPr rtlCol="1" anchor="t"/><a:lstStyle/>
          <a:p><a:pPr rtl="1" algn="l"><a:lnSpc><a:spcPct val="150000"/></a:lnSpc></a:pPr><a:r><a:rPr lang="ar-SA" sz="4400" b="1"><a:solidFill><a:srgbClr val="FFFFFF"/></a:solidFill><a:latin typeface="Segoe UI"/></a:rPr><a:t>ليه معمارية دي؟</a:t></a:r></a:p>
          <a:p><a:pPr rtl="1" algn="l"/><a:r><a:rPr lang="ar-SA" sz="2400"><a:solidFill><a:srgbClr val="C0392B"/></a:solidFill><a:latin typeface="Segoe UI"/></a:rPr><a:t>مشاكل اللي بنحلها</a:t></a:r></a:p>
        </p:txBody>
      </p:sp>
      <p:sp>
        <p:nvSpPr><p:cNvPr id="3" name="Content"/><p:cNvSpPr/><p:nvPr/></p:nvSpPr>
        <p:spPr/>
        <p:txBody>
          <a:bodyPr rtlCol="1" anchor="t"/><a:lstStyle/>
          <a:p><a:pPr rtl="1" algn="l" marL="285750" indent="-285750"><a:buChar char="&#8226;"/></a:pPr><a:r><a:rPr lang="ar-SA" sz="1800"><a:solidFill><a:srgbClr val="CCCCCC"/></a:solidFill><a:latin typeface="Segoe UI"/></a:rPr><a:t>الكود متشابك وصعب التعديل ← Clean Architecture</a:t></a:r></a:p>\n          <a:p><a:pPr rtl="1" algn="l" marL="285750" indent="-285750"><a:buChar char="&#8226;"/></a:pPr><a:r><a:rPr lang="ar-SA" sz="1800"><a:solidFill><a:srgbClr val="CCCCCC"/></a:solidFill><a:latin typeface="Segoe UI"/></a:rPr><a:t>صعوبة اختبار الكود ← Dependency Injection + Repository Pattern</a:t></a:r></a:p>\n          <a:p><a:pPr rtl="1" algn="l" marL="285750" indent="-285750"><a:buChar char="&#8226;"/></a:pPr><a:r><a:rPr lang="ar-SA" sz="1800"><a:solidFill><a:srgbClr val="CCCCCC"/></a:solidFill><a:latin typeface="Segoe UI"/></a:rPr><a:t>استعلامات SQL مكررة ← Specification Pattern</a:t></a:r></a:p>\n          <a:p><a:pPr rtl="1" algn="l" marL="285750" indent="-285750"><a:buChar char="&#8226;"/></a:pPr><a:r><a:rPr lang="ar-SA" sz="1800"><a:solidFill><a:srgbClr val="CCCCCC"/></a:solidFill><a:latin typeface="Segoe UI"/></a:rPr><a:t>مشاكل في المعاملات المعقدة ← Unit of Work Pattern</a:t></a:r></a:p>\n          <a:p><a:pPr rtl="1" algn="l" marL="285750" indent="-285750"><a:buChar char="&#8226;"/></a:pPr><a:r><a:rPr lang="ar-SA" sz="1800"><a:solidFill><a:srgbClr val="CCCCCC"/></a:solidFill><a:latin typeface="Segoe UI"/></a:rPr><a:t>صعوبة إضافة ميزات جديدة ← Result Pattern + DDD</a:t></a:r></a:p>\n        </p:txBody>
      </p:sp>
    </p:spTree>
  </p:cSld>
  <p:clrMapOvr><a:overrideClrMapping bg1="lt1" tx1="dk1" bg2="lt2" tx2="dk2" accent1="accent1" accent2="accent2" accent3="accent3" accent4="accent4" accent5="accent5" accent6="accent6" hlink="hlink" folHlink="folHlink"/></p:clrMapOvr>
</p:sld>
</file>

<file path=ppt/slides/slide3.xml><?xml version="1.0" encoding="UTF-8" standalone="yes"?>
<p:sld xmlns:a="http://schemas.openxmlformats.org/drawingml/2006/main" xmlns:r="http://schemas.openxmlformats.org/officeDocument/2006/relationships" xmlns:p="http://schemas.openxmlformats.org/presentationml/2006/main">
  <p:cSld>
    <p:bg><p:bgPr><a:solidFill><a:srgbClr val="0A0A0A"/></a:solidFill></p:bgPr></p:bg>
    <p:spTree>
      <p:nvGrpSpPr><p:cNvPr id="1" name="/><p:cNvGrpSpPr/><p:nvPr/></p:nvGrpSpPr>
      <p:grpSpPr><a:xfrm><a:off x="0" y="0"/><a:ext cx="0" cy="0"/><a:chOff x="0" y="0"/><a:chExt cx="0" cy="0"/></a:xfrm></p:grpSpPr>
      <p:sp>
        <p:nvSpPr><p:cNvPr id="2" name="Title"/><p:cNvSpPr/><p:nvPr/></p:nvSpPr>
        <p:spPr/>
        <p:txBody>
          <a:bodyPr rtlCol="1" anchor="t"/><a:lstStyle/>
          <a:p><a:pPr rtl="1" algn="l"><a:lnSpc><a:spcPct val="150000"/></a:lnSpc></a:pPr><a:r><a:rPr lang="ar-SA" sz="4400" b="1"><a:solidFill><a:srgbClr val="FFFFFF"/></a:solidFill><a:latin typeface="Segoe UI"/></a:rPr><a:t>هيكل المشروع</a:t></a:r></a:p>
          <a:p><a:pPr rtl="1" algn="l"/><a:r><a:rPr lang="ar-SA" sz="2400"><a:solidFill><a:srgbClr val="C0392B"/></a:solidFill><a:latin typeface="Segoe UI"/></a:rPr><a:t>4 طبقات نظيفة ومنفصلة</a:t></a:r></a:p>
        </p:txBody>
      </p:sp>
      <p:sp>
        <p:nvSpPr><p:cNvPr id="3" name="Content"/><p:cNvSpPr/><p:nvPr/></p:nvSpPr>
        <p:spPr/>
        <p:txBody>
          <a:bodyPr rtlCol="1" anchor="t"/><a:lstStyle/>
          <a:p><a:pPr rtl="1" algn="l" marL="285750" indent="-285750"><a:buChar char="&#8226;"/></a:pPr><a:r><a:rPr lang="ar-SA" sz="1800"><a:solidFill><a:srgbClr val="CCCCCC"/></a:solidFill><a:latin typeface="Segoe UI"/></a:rPr><a:t>ECommerce.Api → Controllers + Middleware + JWT Auth + Swagger</a:t></a:r></a:p>\n          <a:p><a:pPr rtl="1" algn="l" marL="285750" indent="-285750"><a:buChar char="&#8226;"/></a:pPr><a:r><a:rPr lang="ar-SA" sz="1800"><a:solidFill><a:srgbClr val="CCCCCC"/></a:solidFill><a:latin typeface="Segoe UI"/></a:rPr><a:t>ECommerce.Application → Services + DTOs + Business Logic + Validation</a:t></a:r></a:p>\n          <a:p><a:pPr rtl="1" algn="l" marL="285750" indent="-285750"><a:buChar char="&#8226;"/></a:pPr><a:r><a:rPr lang="ar-SA" sz="1800"><a:solidFill><a:srgbClr val="CCCCCC"/></a:solidFill><a:latin typeface="Segoe UI"/></a:rPr><a:t>ECommerce.Domain → Entities + Interfaces + Domain Rules + Events</a:t></a:r></a:p>\n          <a:p><a:pPr rtl="1" algn="l" marL="285750" indent="-285750"><a:buChar char="&#8226;"/></a:pPr><a:r><a:rPr lang="ar-SA" sz="1800"><a:solidFill><a:srgbClr val="CCCCCC"/></a:solidFill><a:latin typeface="Segoe UI"/></a:rPr><a:t>ECommerce.Infrastructure → EF Core + Redis + Repositories + Identity</a:t></a:r></a:p>\n          <a:p><a:pPr rtl="1" algn="l" marL="285750" indent="-285750"><a:buChar char="&#8226;"/></a:pPr><a:r><a:rPr lang="ar-SA" sz="1800"><a:solidFill><a:srgbClr val="CCCCCC"/></a:solidFill><a:latin typeface="Segoe UI"/></a:rPr><a:t>كل طبقة بتعرف على اللي تحتها بس - انفصال تام</a:t></a:r></a:p>\n        </p:txBody>
      </p:sp>
    </p:spTree>
  </p:cSld>
  <p:clrMapOvr><a:overrideClrMapping bg1="lt1" tx1="dk1" bg2="lt2" tx2="dk2" accent1="accent1" accent2="accent2" accent3="accent3" accent4="accent4" accent5="accent5" accent6="accent6" hlink="hlink" folHlink="folHlink"/></p:clrMapOvr>
</p:sld>
</file>

<file path=ppt/slides/slide4.xml><?xml version="1.0" encoding="UTF-8" standalone="yes"?>
<p:sld xmlns:a="http://schemas.openxmlformats.org/drawingml/2006/main" xmlns:r="http://schemas.openxmlformats.org/officeDocument/2006/relationships" xmlns:p="http://schemas.openxmlformats.org/presentationml/2006/main">
  <p:cSld>
    <p:bg><p:bgPr><a:solidFill><a:srgbClr val="0A0A0A"/></a:solidFill></p:bgPr></p:bg>
    <p:spTree>
      <p:nvGrpSpPr><p:cNvPr id="1" name="/><p:cNvGrpSpPr/><p:nvPr/></p:nvGrpSpPr>
      <p:grpSpPr><a:xfrm><a:off x="0" y="0"/><a:ext cx="0" cy="0"/><a:chOff x="0" y="0"/><a:chExt cx="0" cy="0"/></a:xfrm></p:grpSpPr>
      <p:sp>
        <p:nvSpPr><p:cNvPr id="2" name="Title"/><p:cNvSpPr/><p:nvPr/></p:nvSpPr>
        <p:spPr/>
        <p:txBody>
          <a:bodyPr rtlCol="1" anchor="t"/><a:lstStyle/>
          <a:p><a:pPr rtl="1" algn="l"><a:lnSpc><a:spcPct val="150000"/></a:lnSpc></a:pPr><a:r><a:rPr lang="ar-SA" sz="4400" b="1"><a:solidFill><a:srgbClr val="FFFFFF"/></a:solidFill><a:latin typeface="Segoe UI"/></a:rPr><a:t>Design Patterns المستخدمة</a:t></a:r></a:p>
          <a:p><a:pPr rtl="1" algn="l"/><a:r><a:rPr lang="ar-SA" sz="2400"><a:solidFill><a:srgbClr val="C0392B"/></a:solidFill><a:latin typeface="Segoe UI"/></a:rPr><a:t>اختيارات مدروسة لكل نمط</a:t></a:r></a:p>
        </p:txBody>
      </p:sp>
      <p:sp>
        <p:nvSpPr><p:cNvPr id="3" name="Content"/><p:cNvSpPr/><p:nvPr/></p:nvSpPr>
        <p:spPr/>
        <p:txBody>
          <a:bodyPr rtlCol="1" anchor="t"/><a:lstStyle/>
          <a:p><a:pPr rtl="1" algn="l" marL="285750" indent="-285750"><a:buChar char="&#8226;"/></a:pPr><a:r><a:rPr lang="ar-SA" sz="1800"><a:solidFill><a:srgbClr val="CCCCCC"/></a:solidFill><a:latin typeface="Segoe UI"/></a:rPr><a:t>Repository Pattern → يفصل طبقة البيانات عن البزنس لوجيك</a:t></a:r></a:p>\n          <a:p><a:pPr rtl="1" algn="l" marL="285750" indent="-285750"><a:buChar char="&#8226;"/></a:pPr><a:r><a:rPr lang="ar-SA" sz="1800"><a:solidFill><a:srgbClr val="CCCCCC"/></a:solidFill><a:latin typeface="Segoe UI"/></a:rPr><a:t>Unit of Work → بيضمن إن كل العمليات تتم في معاملة واحدة</a:t></a:r></a:p>\n          <a:p><a:pPr rtl="1" algn="l" marL="285750" indent="-285750"><a:buChar char="&#8226;"/></a:pPr><a:r><a:rPr lang="ar-SA" sz="1800"><a:solidFill><a:srgbClr val="CCCCCC"/></a:solidFill><a:latin typeface="Segoe UI"/></a:rPr><a:t>Specification Pattern → الـ queries بقابلة لإعادة الاستخدام والتركيب</a:t></a:r></a:p>\n          <a:p><a:pPr rtl="1" algn="l" marL="285750" indent="-285750"><a:buChar char="&#8226;"/></a:pPr><a:r><a:rPr lang="ar-SA" sz="1800"><a:solidFill><a:srgbClr val="CCCCCC"/></a:solidFill><a:latin typeface="Segoe UI"/></a:rPr><a:t>Result Pattern → بدل رمي Exceptions بنرجع Result واضح</a:t></a:r></a:p>\n          <a:p><a:pPr rtl="1" algn="l" marL="285750" indent="-285750"><a:buChar char="&#8226;"/></a:pPr><a:r><a:rPr lang="ar-SA" sz="1800"><a:solidFill><a:srgbClr val="CCCCCC"/></a:solidFill><a:latin typeface="Segoe UI"/></a:rPr><a:t>Dependency Injection → كل خدمة بتاخد اعتمادياتها من بره</a:t></a:r></a:p>\n        </p:txBody>
      </p:sp>
    </p:spTree>
  </p:cSld>
  <p:clrMapOvr><a:overrideClrMapping bg1="lt1" tx1="dk1" bg2="lt2" tx2="dk2" accent1="accent1" accent2="accent2" accent3="accent3" accent4="accent4" accent5="accent5" accent6="accent6" hlink="hlink" folHlink="folHlink"/></p:clrMapOvr>
</p:sld>
</file>

<file path=ppt/slides/slide5.xml><?xml version="1.0" encoding="UTF-8" standalone="yes"?>
<p:sld xmlns:a="http://schemas.openxmlformats.org/drawingml/2006/main" xmlns:r="http://schemas.openxmlformats.org/officeDocument/2006/relationships" xmlns:p="http://schemas.openxmlformats.org/presentationml/2006/main">
  <p:cSld>
    <p:bg><p:bgPr><a:solidFill><a:srgbClr val="0A0A0A"/></a:solidFill></p:bgPr></p:bg>
    <p:spTree>
      <p:nvGrpSpPr><p:cNvPr id="1" name="/><p:cNvGrpSpPr/><p:nvPr/></p:nvGrpSpPr>
      <p:grpSpPr><a:xfrm><a:off x="0" y="0"/><a:ext cx="0" cy="0"/><a:chOff x="0" y="0"/><a:chExt cx="0" cy="0"/></a:xfrm></p:grpSpPr>
      <p:sp>
        <p:nvSpPr><p:cNvPr id="2" name="Title"/><p:cNvSpPr/><p:nvPr/></p:nvSpPr>
        <p:spPr/>
        <p:txBody>
          <a:bodyPr rtlCol="1" anchor="t"/><a:lstStyle/>
          <a:p><a:pPr rtl="1" algn="l"><a:lnSpc><a:spcPct val="150000"/></a:lnSpc></a:pPr><a:r><a:rPr lang="ar-SA" sz="4400" b="1"><a:solidFill><a:srgbClr val="FFFFFF"/></a:solidFill><a:latin typeface="Segoe UI"/></a:rPr><a:t>معالجة الأخطاء</a:t></a:r></a:p>
          <a:p><a:pPr rtl="1" algn="l"/><a:r><a:rPr lang="ar-SA" sz="2400"><a:solidFill><a:srgbClr val="C0392B"/></a:solidFill><a:latin typeface="Segoe UI"/></a:rPr><a:t>Result Pattern بالتفصيل</a:t></a:r></a:p>
        </p:txBody>
      </p:sp>
      <p:sp>
        <p:nvSpPr><p:cNvPr id="3" name="Content"/><p:cNvSpPr/><p:nvPr/></p:nvSpPr>
        <p:spPr/>
        <p:txBody>
          <a:bodyPr rtlCol="1" anchor="t"/><a:lstStyle/>
          <a:p><a:pPr rtl="1" algn="l" marL="285750" indent="-285750"><a:buChar char="&#8226;"/></a:pPr><a:r><a:rPr lang="ar-SA" sz="1800"><a:solidFill><a:srgbClr val="CCCCCC"/></a:solidFill><a:latin typeface="Segoe UI"/></a:rPr><a:t>بدل try/catch ورمي Exceptions في كل مكان</a:t></a:r></a:p>\n          <a:p><a:pPr rtl="1" algn="l" marL="285750" indent="-285750"><a:buChar char="&#8226;"/></a:pPr><a:r><a:rPr lang="ar-SA" sz="1800"><a:solidFill><a:srgbClr val="CCCCCC"/></a:solidFill><a:latin typeface="Segoe UI"/></a:rPr><a:t>بنرجع Result&lt;T&gt; فيه Value + Errors + IsSuccess</a:t></a:r></a:p>\n          <a:p><a:pPr rtl="1" algn="l" marL="285750" indent="-285750"><a:buChar char="&#8226;"/></a:pPr><a:r><a:rPr lang="ar-SA" sz="1800"><a:solidFill><a:srgbClr val="CCCCCC"/></a:solidFill><a:latin typeface="Segoe UI"/></a:rPr><a:t>كل Error له Code + Description + Type</a:t></a:r></a:p>\n          <a:p><a:pPr rtl="1" algn="l" marL="285750" indent="-285750"><a:buChar char="&#8226;"/></a:pPr><a:r><a:rPr lang="ar-SA" sz="1800"><a:solidFill><a:srgbClr val="CCCCCC"/></a:solidFill><a:latin typeface="Segoe UI"/></a:rPr><a:t>ErrorType: NotFound, Validation, Conflict, Unauthorized</a:t></a:r></a:p>\n          <a:p><a:pPr rtl="1" algn="l" marL="285750" indent="-285750"><a:buChar char="&#8226;"/></a:pPr><a:r><a:rPr lang="ar-SA" sz="1800"><a:solidFill><a:srgbClr val="CCCCCC"/></a:solidFill><a:latin typeface="Segoe UI"/></a:rPr><a:t>كود نظيف بدون معالجة أخطاء متشابكة</a:t></a:r></a:p>\n        </p:txBody>
      </p:sp>
    </p:spTree>
  </p:cSld>
  <p:clrMapOvr><a:overrideClrMapping bg1="lt1" tx1="dk1" bg2="lt2" tx2="dk2" accent1="accent1" accent2="accent2" accent3="accent3" accent4="accent4" accent5="accent5" accent6="accent6" hlink="hlink" folHlink="folHlink"/></p:clrMapOvr>
</p:sld>
</file>

<file path=ppt/slides/slide6.xml><?xml version="1.0" encoding="UTF-8" standalone="yes"?>
<p:sld xmlns:a="http://schemas.openxmlformats.org/drawingml/2006/main" xmlns:r="http://schemas.openxmlformats.org/officeDocument/2006/relationships" xmlns:p="http://schemas.openxmlformats.org/presentationml/2006/main">
  <p:cSld>
    <p:bg><p:bgPr><a:solidFill><a:srgbClr val="0A0A0A"/></a:solidFill></p:bgPr></p:bg>
    <p:spTree>
      <p:nvGrpSpPr><p:cNvPr id="1" name="/><p:cNvGrpSpPr/><p:nvPr/></p:nvGrpSpPr>
      <p:grpSpPr><a:xfrm><a:off x="0" y="0"/><a:ext cx="0" cy="0"/><a:chOff x="0" y="0"/><a:chExt cx="0" cy="0"/></a:xfrm></p:grpSpPr>
      <p:sp>
        <p:nvSpPr><p:cNvPr id="2" name="Title"/><p:cNvSpPr/><p:nvPr/></p:nvSpPr>
        <p:spPr/>
        <p:txBody>
          <a:bodyPr rtlCol="1" anchor="t"/><a:lstStyle/>
          <a:p><a:pPr rtl="1" algn="l"><a:lnSpc><a:spcPct val="150000"/></a:lnSpc></a:pPr><a:r><a:rPr lang="ar-SA" sz="4400" b="1"><a:solidFill><a:srgbClr val="FFFFFF"/></a:solidFill><a:latin typeface="Segoe UI"/></a:rPr><a:t>نظام الطلبات</a:t></a:r></a:p>
          <a:p><a:pPr rtl="1" algn="l"/><a:r><a:rPr lang="ar-SA" sz="2400"><a:solidFill><a:srgbClr val="C0392B"/></a:solidFill><a:latin typeface="Segoe UI"/></a:rPr><a:t>Order Creation Flow</a:t></a:r></a:p>
        </p:txBody>
      </p:sp>
      <p:sp>
        <p:nvSpPr><p:cNvPr id="3" name="Content"/><p:cNvSpPr/><p:nvPr/></p:nvSpPr>
        <p:spPr/>
        <p:txBody>
          <a:bodyPr rtlCol="1" anchor="t"/><a:lstStyle/>
          <a:p><a:pPr rtl="1" algn="l" marL="285750" indent="-285750"><a:buChar char="&#8226;"/></a:pPr><a:r><a:rPr lang="ar-SA" sz="1800"><a:solidFill><a:srgbClr val="CCCCCC"/></a:solidFill><a:latin typeface="Segoe UI"/></a:rPr><a:t>1. التحقق من السلة Basket من Redis</a:t></a:r></a:p>\n          <a:p><a:pPr rtl="1" algn="l" marL="285750" indent="-285750"><a:buChar char="&#8226;"/></a:pPr><a:r><a:rPr lang="ar-SA" sz="1800"><a:solidFill><a:srgbClr val="CCCCCC"/></a:solidFill><a:latin typeface="Segoe UI"/></a:rPr><a:t>2. التحقق من طريقة التوصيل موجودة ومتاحة</a:t></a:r></a:p>\n          <a:p><a:pPr rtl="1" algn="l" marL="285750" indent="-285750"><a:buChar char="&#8226;"/></a:pPr><a:r><a:rPr lang="ar-SA" sz="1800"><a:solidFill><a:srgbClr val="CCCCCC"/></a:solidFill><a:latin typeface="Segoe UI"/></a:rPr><a:t>3. التحقق من العميل بالبحث بالإيميل</a:t></a:r></a:p>\n          <a:p><a:pPr rtl="1" algn="l" marL="285750" indent="-285750"><a:buChar char="&#8226;"/></a:pPr><a:r><a:rPr lang="ar-SA" sz="1800"><a:solidFill><a:srgbClr val="CCCCCC"/></a:solidFill><a:latin typeface="Segoe UI"/></a:rPr><a:t>4. إنشاء OrderItems من كل منتج في السلة</a:t></a:r></a:p>\n          <a:p><a:pPr rtl="1" algn="l" marL="285750" indent="-285750"><a:buChar char="&#8226;"/></a:pPr><a:r><a:rPr lang="ar-SA" sz="1800"><a:solidFill><a:srgbClr val="CCCCCC"/></a:solidFill><a:latin typeface="Segoe UI"/></a:rPr><a:t>5. حفظ الطلب بـ Unit of Work في معاملة واحدة</a:t></a:r></a:p>\n        </p:txBody>
      </p:sp>
    </p:spTree>
  </p:cSld>
  <p:clrMapOvr><a:overrideClrMapping bg1="lt1" tx1="dk1" bg2="lt2" tx2="dk2" accent1="accent1" accent2="accent2" accent3="accent3" accent4="accent4" accent5="accent5" accent6="accent6" hlink="hlink" folHlink="folHlink"/></p:clrMapOvr>
</p:sld>
</file>

<file path=ppt/slides/slide7.xml><?xml version="1.0" encoding="UTF-8" standalone="yes"?>
<p:sld xmlns:a="http://schemas.openxmlformats.org/drawingml/2006/main" xmlns:r="http://schemas.openxmlformats.org/officeDocument/2006/relationships" xmlns:p="http://schemas.openxmlformats.org/presentationml/2006/main">
  <p:cSld>
    <p:bg><p:bgPr><a:solidFill><a:srgbClr val="0A0A0A"/></a:solidFill></p:bgPr></p:bg>
    <p:spTree>
      <p:nvGrpSpPr><p:cNvPr id="1" name="/><p:cNvGrpSpPr/><p:nvPr/></p:nvGrpSpPr>
      <p:grpSpPr><a:xfrm><a:off x="0" y="0"/><a:ext cx="0" cy="0"/><a:chOff x="0" y="0"/><a:chExt cx="0" cy="0"/></a:xfrm></p:grpSpPr>
      <p:sp>
        <p:nvSpPr><p:cNvPr id="2" name="Title"/><p:cNvSpPr/><p:nvPr/></p:nvSpPr>
        <p:spPr/>
        <p:txBody>
          <a:bodyPr rtlCol="1" anchor="t"/><a:lstStyle/>
          <a:p><a:pPr rtl="1" algn="l"><a:lnSpc><a:spcPct val="150000"/></a:lnSpc></a:pPr><a:r><a:rPr lang="ar-SA" sz="4400" b="1"><a:solidFill><a:srgbClr val="FFFFFF"/></a:solidFill><a:latin typeface="Segoe UI"/></a:rPr><a:t>الفوائد للمستخدمين</a:t></a:r></a:p>
          <a:p><a:pPr rtl="1" algn="l"/><a:r><a:rPr lang="ar-SA" sz="2400"><a:solidFill><a:srgbClr val="C0392B"/></a:solidFill><a:latin typeface="Segoe UI"/></a:rPr><a:t>ايه اللي بيكسبه المستخدم</a:t></a:r></a:p>
        </p:txBody>
      </p:sp>
      <p:sp>
        <p:nvSpPr><p:cNvPr id="3" name="Content"/><p:cNvSpPr/><p:nvPr/></p:nvSpPr>
        <p:spPr/>
        <p:txBody>
          <a:bodyPr rtlCol="1" anchor="t"/><a:lstStyle/>
          <a:p><a:pPr rtl="1" algn="l" marL="285750" indent="-285750"><a:buChar char="&#8226;"/></a:pPr><a:r><a:rPr lang="ar-SA" sz="1800"><a:solidFill><a:srgbClr val="CCCCCC"/></a:solidFill><a:latin typeface="Segoe UI"/></a:rPr><a:t>سرعة فائقة → Redis Caching للبيانات المتكررة</a:t></a:r></a:p>\n          <a:p><a:pPr rtl="1" algn="l" marL="285750" indent="-285750"><a:buChar char="&#8226;"/></a:pPr><a:r><a:rPr lang="ar-SA" sz="1800"><a:solidFill><a:srgbClr val="CCCCCC"/></a:solidFill><a:latin typeface="Segoe UI"/></a:rPr><a:t>أمان كامل → JWT + Role-based Authorization</a:t></a:r></a:p>\n          <a:p><a:pPr rtl="1" algn="l" marL="285750" indent="-285750"><a:buChar char="&#8226;"/></a:pPr><a:r><a:rPr lang="ar-SA" sz="1800"><a:solidFill><a:srgbClr val="CCCCCC"/></a:solidFill><a:latin typeface="Segoe UI"/></a:rPr><a:t>تجربة سلسة → سلة ذكية مستمرة على السيرفر</a:t></a:r></a:p>\n          <a:p><a:pPr rtl="1" algn="l" marL="285750" indent="-285750"><a:buChar char="&#8226;"/></a:pPr><a:r><a:rPr lang="ar-SA" sz="1800"><a:solidFill><a:srgbClr val="CCCCCC"/></a:solidFill><a:latin typeface="Segoe UI"/></a:rPr><a:t>متوافق مع كل الأجهزة → API + CORS جاهز لأي Frontend</a:t></a:r></a:p>\n        </p:txBody>
      </p:sp>
    </p:spTree>
  </p:cSld>
  <p:clrMapOvr><a:overrideClrMapping bg1="lt1" tx1="dk1" bg2="lt2" tx2="dk2" accent1="accent1" accent2="accent2" accent3="accent3" accent4="accent4" accent5="accent5" accent6="accent6" hlink="hlink" folHlink="folHlink"/></p:clrMapOvr>
</p:sld>
</file>

<file path=ppt/slides/slide8.xml><?xml version="1.0" encoding="UTF-8" standalone="yes"?>
<p:sld xmlns:a="http://schemas.openxmlformats.org/drawingml/2006/main" xmlns:r="http://schemas.openxmlformats.org/officeDocument/2006/relationships" xmlns:p="http://schemas.openxmlformats.org/presentationml/2006/main">
  <p:cSld>
    <p:bg><p:bgPr><a:solidFill><a:srgbClr val="0A0A0A"/></a:solidFill></p:bgPr></p:bg>
    <p:spTree>
      <p:nvGrpSpPr><p:cNvPr id="1" name="/><p:cNvGrpSpPr/><p:nvPr/></p:nvGrpSpPr>
      <p:grpSpPr><a:xfrm><a:off x="0" y="0"/><a:ext cx="0" cy="0"/><a:chOff x="0" y="0"/><a:chExt cx="0" cy="0"/></a:xfrm></p:grpSpPr>
      <p:sp>
        <p:nvSpPr><p:cNvPr id="2" name="Title"/><p:cNvSpPr/><p:nvPr/></p:nvSpPr>
        <p:spPr/>
        <p:txBody>
          <a:bodyPr rtlCol="1" anchor="t"/><a:lstStyle/>
          <a:p><a:pPr rtl="1" algn="l"><a:lnSpc><a:spcPct val="150000"/></a:lnSpc></a:pPr><a:r><a:rPr lang="ar-SA" sz="4400" b="1"><a:solidFill><a:srgbClr val="FFFFFF"/></a:solidFill><a:latin typeface="Segoe UI"/></a:rPr><a:t>المشروع جاهز للتوسع</a:t></a:r></a:p>
          <a:p><a:pPr rtl="1" algn="l"/><a:r><a:rPr lang="ar-SA" sz="2400"><a:solidFill><a:srgbClr val="C0392B"/></a:solidFill><a:latin typeface="Segoe UI"/></a:rPr><a:t>خطوات قادمة</a:t></a:r></a:p>
        </p:txBody>
      </p:sp>
      <p:sp>
        <p:nvSpPr><p:cNvPr id="3" name="Content"/><p:cNvSpPr/><p:nvPr/></p:nvSpPr>
        <p:spPr/>
        <p:txBody>
          <a:bodyPr rtlCol="1" anchor="t"/><a:lstStyle/>
          <a:p><a:pPr rtl="1" algn="l" marL="285750" indent="-285750"><a:buChar char="&#8226;"/></a:pPr><a:r><a:rPr lang="ar-SA" sz="1800"><a:solidFill><a:srgbClr val="CCCCCC"/></a:solidFill><a:latin typeface="Segoe UI"/></a:rPr><a:t>جاهز: سلة + طلبات + مصادقة + API</a:t></a:r></a:p>\n          <a:p><a:pPr rtl="1" algn="l" marL="285750" indent="-285750"><a:buChar char="&#8226;"/></a:pPr><a:r><a:rPr lang="ar-SA" sz="1800"><a:solidFill><a:srgbClr val="CCCCCC"/></a:solidFill><a:latin typeface="Segoe UI"/></a:rPr><a:t>القادم: دفع + تتبع شحنات + إشعارات</a:t></a:r></a:p>\n          <a:p><a:pPr rtl="1" algn="l" marL="285750" indent="-285750"><a:buChar char="&#8226;"/></a:pPr><a:r><a:rPr lang="ar-SA" sz="1800"><a:solidFill><a:srgbClr val="CCCCCC"/></a:solidFill><a:latin typeface="Segoe UI"/></a:rPr><a:t>متجر قهوة إلكتروني كامل من الصفر</a:t></a:r></a:p>\n          <a:p><a:pPr rtl="1" algn="l" marL="285750" indent="-285750"><a:buChar char="&#8226;"/></a:pPr><a:r><a:rPr lang="ar-SA" sz="1800"><a:solidFill><a:srgbClr val="CCCCCC"/></a:solidFill><a:latin typeface="Segoe UI"/></a:rPr><a:t>CoffeeStore - Built with Clean Architecture</a:t></a:r></a:p>\n        </p:txBody>
      </p:sp>
    </p:spTree>
  </p:cSld>
  <p:clrMapOvr><a:overrideClrMapping bg1="lt1" tx1="dk1" bg2="lt2" tx2="dk2" accent1="accent1" accent2="accent2" accent3="accent3" accent4="accent4" accent5="accent5" accent6="accent6" hlink="hlink" folHlink="folHlink"/></p:clrMapOvr>
</p:sld>
</file>

<file path=ppt/theme/theme1.xml><?xml version="1.0" encoding="UTF-8" standalone="yes"?>
<a:theme xmlns:a="http://schemas.openxmlformats.org/drawingml/2006/main" name="CoffeeStore Dark">
  <a:themeElements>
    <a:clrScheme name="CoffeeStore">
      <a:dk1><a:srgbClr val="0A0A0A"/></a:dk1>
      <a:lt1><a:srgbClr val="FFFFFF"/></a:lt1>
      <a:dk2><a:srgbClr val="1A1A1A"/></a:dk2>
      <a:lt2><a:srgbClr val="F2F2F2"/></a:lt2>
      <a:accent1><a:srgbClr val="C0392B"/></a:accent1>
      <a:accent2><a:srgbClr val="2980B9"/></a:accent2>
      <a:accent3><a:srgbClr val="27AE60"/></a:accent3>
      <a:accent4><a:srgbClr val="8E44AD"/></a:accent4>
      <a:accent5><a:srgbClr val="F39C12"/></a:accent5>
      <a:accent6><a:srgbClr val="16A085"/></a:accent6>
      <a:hlink><a:srgbClr val="2980B9"/></a:hlink>
      <a:folHlink><a:srgbClr val="8E44AD"/></a:folHlink>
    </a:clrScheme>
    <a:fontScheme name="CoffeeStore">
      <a:majorFont><a:latin typeface="Segoe UI"/><a:ea typeface="/><a:cs typeface="/></a:majorFont>
      <a:minorFont><a:latin typeface="Segoe UI"/><a:ea typeface="/><a:cs typeface="/></a:minorFont>
    </a:fontScheme>
    <a:fmtScheme name="CoffeeStore">
      <a:fillStyleLst>
        <a:solidFill><a:schemeClr val="phClr"/></a:solidFill>
        <a:solidFill><a:schemeClr val="phClr"/></a:solidFill>
        <a:solidFill><a:schemeClr val="phClr"/></a:solidFill>
      </a:fillStyleLst>
      <a:lnStyleLst>
        <a:ln w="6350"><a:solidFill><a:schemeClr val="phClr"/></a:solidFill></a:ln>
        <a:ln w="12700"><a:solidFill><a:schemeClr val="phClr"/></a:solidFill></a:ln>
        <a:ln w="19050"><a:solidFill><a:schemeClr val="phClr"/></a:solidFill></a:ln>
      </a:lnStyleLst>
      <a:effectStyleLst>
        <a:effectStyle><a:effectLst/></a:effectStyle>
        <a:effectStyle><a:effectLst/></a:effectStyle>
        <a:effectStyle><a:effectLst/></a:effectStyle>
      </a:effectStyleLst>
      <a:bgFillStyleLst>
        <a:solidFill><a:schemeClr val="phClr"/></a:solidFill>
        <a:solidFill><a:schemeClr val="phClr"/></a:solidFill>
        <a:solidFill><a:schemeClr val="phClr"/>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CoffeeStore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CoffeeStore E-Commerce</dc:title>
  <dc:creator>Development Team</dc:creator>
  <cp:lastModifiedBy>Development Team</cp:lastModifiedBy>
  <dcterms:created xsi:type="dcterms:W3CDTF">2026-10-11T00:00:00Z</dcterms:created>
  <dcterms:modified xsi:type="dcterms:W3CDTF">2026-10-11T00:00:00Z</dcterms:modified>
</cp:coreProperties>
</file>